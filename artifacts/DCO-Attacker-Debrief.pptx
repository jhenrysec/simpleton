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this slide while the room settles. Do not talk through the lab yet. The next slide is the score. Fill class, date, and your name on this slide before you walk in. This deck is the debrief, not a tool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this slide until the four numbers are said out loud. Teal is what they found. Amber is what you still had. If you did not plant a callback on a host, do not put that host in the callback denominator. The device count on the last card is hosts where root, Administrator, or sudo still worked.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rows you actually used, in the order you did them. Do not read rows you deleted. 'Still there' is yes or no after they said they were done. Empty logs are a finding: the file exists and has nothing in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Channel is tcp, http, dns, mqtt, ws, or icmp. Found means a student named the host and the channel, not just that the host felt slow. Still alive means sessions still showed the agent, or you could still task it, when time was called. Delete rows where you planted nothing. Routers count only if an agent was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 means they named the account and the host. A student who says 'something is in sudo' has not discovered the user. The defender row counts only if you changed that account, usually the login shell. Passwords you generated stay off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this from the operator sessions list and from the watch, at the minute you called time. Kind is callback, shell, SSH, or other. If you closed it yourself before the end, mark it dead. The denominator is every connection you opened into their hosts, including ones they did kill.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they will photograph. Only mark Still held as yes if you could still act as root, Administrator, or a sudo user after their cleanup. The denominator is the devices in this table that were in play. Drop a row that was not part of the scenario. WAN 10.50.160.129 is the path, not a scored host, unless you actually held it. Router SSH is 20222. Host SSH is 22.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the four lines on the left from the watch log before class ends, while you still have the screen. Right side is the teaching point for each one: what they did in response, or that they did nothing. Keep each line to one sentence. If you saw nothing useful, say so. Do not invent a mistake.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remediation grade. Caught means they removed it or named it and proved it. Missed means you could still use it or it was still sitting there. Do not mark missed if you never planted that item. Empty logs are missed if they called a quiet log a healthy log.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single miss that teaches the most and stay on it. Do not reopen every row. End by taking questions. If they argue a count, go back to the host and show the session, the account, or the file. Do not argue from memory.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417320"/>
            <a:ext cx="9144000" cy="256032"/>
          </a:xfrm>
          <a:prstGeom prst="rect">
            <a:avLst/>
          </a:prstGeom>
          <a:noFill/>
        </p:spPr>
        <p:txBody>
          <a:bodyPr wrap="square" lIns="0" rIns="0" tIns="0" bIns="0" anchor="t"/>
          <a:lstStyle/>
          <a:p>
            <a:pPr algn="l">
              <a:spcBef>
                <a:spcPts val="0"/>
              </a:spcBef>
              <a:spcAft>
                <a:spcPts val="0"/>
              </a:spcAft>
            </a:pPr>
            <a:r>
              <a:rPr sz="1300" b="1">
                <a:solidFill>
                  <a:srgbClr val="0F766E"/>
                </a:solidFill>
                <a:latin typeface="Calibri"/>
                <a:ea typeface="Calibri"/>
                <a:cs typeface="Calibri"/>
              </a:rPr>
              <a:t>END OF EXERCISE</a:t>
            </a:r>
          </a:p>
        </p:txBody>
      </p:sp>
      <p:sp>
        <p:nvSpPr>
          <p:cNvPr id="5" name="TextBox 4"/>
          <p:cNvSpPr txBox="1"/>
          <p:nvPr/>
        </p:nvSpPr>
        <p:spPr>
          <a:xfrm>
            <a:off x="658368" y="1828800"/>
            <a:ext cx="10972800" cy="640080"/>
          </a:xfrm>
          <a:prstGeom prst="rect">
            <a:avLst/>
          </a:prstGeom>
          <a:noFill/>
        </p:spPr>
        <p:txBody>
          <a:bodyPr wrap="square" lIns="0" rIns="0" tIns="0" bIns="0" anchor="t"/>
          <a:lstStyle/>
          <a:p>
            <a:pPr algn="l">
              <a:spcBef>
                <a:spcPts val="0"/>
              </a:spcBef>
              <a:spcAft>
                <a:spcPts val="0"/>
              </a:spcAft>
            </a:pPr>
            <a:r>
              <a:rPr sz="3600" b="1">
                <a:solidFill>
                  <a:srgbClr val="FFFFFF"/>
                </a:solidFill>
                <a:latin typeface="Calibri"/>
                <a:ea typeface="Calibri"/>
                <a:cs typeface="Calibri"/>
              </a:rPr>
              <a:t>Defensive Cyberspace Operations</a:t>
            </a:r>
          </a:p>
        </p:txBody>
      </p:sp>
      <p:sp>
        <p:nvSpPr>
          <p:cNvPr id="6" name="TextBox 5"/>
          <p:cNvSpPr txBox="1"/>
          <p:nvPr/>
        </p:nvSpPr>
        <p:spPr>
          <a:xfrm>
            <a:off x="658368" y="2487168"/>
            <a:ext cx="10972800" cy="640080"/>
          </a:xfrm>
          <a:prstGeom prst="rect">
            <a:avLst/>
          </a:prstGeom>
          <a:noFill/>
        </p:spPr>
        <p:txBody>
          <a:bodyPr wrap="square" lIns="0" rIns="0" tIns="0" bIns="0" anchor="t"/>
          <a:lstStyle/>
          <a:p>
            <a:pPr algn="l">
              <a:spcBef>
                <a:spcPts val="0"/>
              </a:spcBef>
              <a:spcAft>
                <a:spcPts val="0"/>
              </a:spcAft>
            </a:pPr>
            <a:r>
              <a:rPr sz="4000" b="1">
                <a:solidFill>
                  <a:srgbClr val="FFFFFF"/>
                </a:solidFill>
                <a:latin typeface="Calibri"/>
                <a:ea typeface="Calibri"/>
                <a:cs typeface="Calibri"/>
              </a:rPr>
              <a:t>Attacker Debrief</a:t>
            </a:r>
          </a:p>
        </p:txBody>
      </p:sp>
      <p:sp>
        <p:nvSpPr>
          <p:cNvPr id="7" name="Rectangle 6"/>
          <p:cNvSpPr/>
          <p:nvPr/>
        </p:nvSpPr>
        <p:spPr>
          <a:xfrm>
            <a:off x="658368" y="3291840"/>
            <a:ext cx="1920240" cy="41148"/>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20440"/>
            <a:ext cx="9144000" cy="365760"/>
          </a:xfrm>
          <a:prstGeom prst="rect">
            <a:avLst/>
          </a:prstGeom>
          <a:noFill/>
        </p:spPr>
        <p:txBody>
          <a:bodyPr wrap="square" lIns="0" rIns="0" tIns="0" bIns="0" anchor="t"/>
          <a:lstStyle/>
          <a:p>
            <a:pPr algn="l">
              <a:spcBef>
                <a:spcPts val="0"/>
              </a:spcBef>
              <a:spcAft>
                <a:spcPts val="0"/>
              </a:spcAft>
            </a:pPr>
            <a:r>
              <a:rPr sz="1600" b="0">
                <a:solidFill>
                  <a:srgbClr val="C5D0D8"/>
                </a:solidFill>
                <a:latin typeface="Calibri"/>
                <a:ea typeface="Calibri"/>
                <a:cs typeface="Calibri"/>
              </a:rPr>
              <a:t>What I did. What you found. What I still had when you stopped.</a:t>
            </a:r>
          </a:p>
        </p:txBody>
      </p:sp>
      <p:sp>
        <p:nvSpPr>
          <p:cNvPr id="9" name="TextBox 8"/>
          <p:cNvSpPr txBox="1"/>
          <p:nvPr/>
        </p:nvSpPr>
        <p:spPr>
          <a:xfrm>
            <a:off x="658368" y="4709160"/>
            <a:ext cx="2926080" cy="201168"/>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CLASS</a:t>
            </a:r>
          </a:p>
        </p:txBody>
      </p:sp>
      <p:sp>
        <p:nvSpPr>
          <p:cNvPr id="10" name="Rectangle 9"/>
          <p:cNvSpPr/>
          <p:nvPr/>
        </p:nvSpPr>
        <p:spPr>
          <a:xfrm>
            <a:off x="658368" y="5230368"/>
            <a:ext cx="2560320" cy="13716"/>
          </a:xfrm>
          <a:prstGeom prst="rect">
            <a:avLst/>
          </a:prstGeom>
          <a:solidFill>
            <a:srgbClr val="3D5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50208" y="4709160"/>
            <a:ext cx="2926080" cy="201168"/>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DATE</a:t>
            </a:r>
          </a:p>
        </p:txBody>
      </p:sp>
      <p:sp>
        <p:nvSpPr>
          <p:cNvPr id="12" name="Rectangle 11"/>
          <p:cNvSpPr/>
          <p:nvPr/>
        </p:nvSpPr>
        <p:spPr>
          <a:xfrm>
            <a:off x="3950208" y="5230368"/>
            <a:ext cx="2560320" cy="13716"/>
          </a:xfrm>
          <a:prstGeom prst="rect">
            <a:avLst/>
          </a:prstGeom>
          <a:solidFill>
            <a:srgbClr val="3D5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42048" y="4709160"/>
            <a:ext cx="2926080" cy="201168"/>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INSTRUCTOR</a:t>
            </a:r>
          </a:p>
        </p:txBody>
      </p:sp>
      <p:sp>
        <p:nvSpPr>
          <p:cNvPr id="14" name="Rectangle 13"/>
          <p:cNvSpPr/>
          <p:nvPr/>
        </p:nvSpPr>
        <p:spPr>
          <a:xfrm>
            <a:off x="7242048" y="5230368"/>
            <a:ext cx="2560320" cy="13716"/>
          </a:xfrm>
          <a:prstGeom prst="rect">
            <a:avLst/>
          </a:prstGeom>
          <a:solidFill>
            <a:srgbClr val="3D5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126480"/>
            <a:ext cx="9144000" cy="256032"/>
          </a:xfrm>
          <a:prstGeom prst="rect">
            <a:avLst/>
          </a:prstGeom>
          <a:noFill/>
        </p:spPr>
        <p:txBody>
          <a:bodyPr wrap="square" lIns="0" rIns="0" tIns="0" bIns="0" anchor="t"/>
          <a:lstStyle/>
          <a:p>
            <a:pPr algn="l">
              <a:spcBef>
                <a:spcPts val="0"/>
              </a:spcBef>
              <a:spcAft>
                <a:spcPts val="0"/>
              </a:spcAft>
            </a:pPr>
            <a:r>
              <a:rPr sz="1300" b="0">
                <a:solidFill>
                  <a:srgbClr val="8FA3B3"/>
                </a:solidFill>
                <a:latin typeface="Calibri"/>
                <a:ea typeface="Calibri"/>
                <a:cs typeface="Calibri"/>
              </a:rPr>
              <a:t>Isolated lab. Fill every X and every dash before you present.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BOTTOM LINE</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Read this before the evidence</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02  /  10</a:t>
            </a:r>
          </a:p>
        </p:txBody>
      </p:sp>
      <p:sp>
        <p:nvSpPr>
          <p:cNvPr id="8" name="TextBox 7"/>
          <p:cNvSpPr txBox="1"/>
          <p:nvPr/>
        </p:nvSpPr>
        <p:spPr>
          <a:xfrm>
            <a:off x="502920" y="1024128"/>
            <a:ext cx="10972800" cy="274320"/>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Count only what you can show on a host. A hunch is not a point.</a:t>
            </a:r>
          </a:p>
        </p:txBody>
      </p:sp>
      <p:sp>
        <p:nvSpPr>
          <p:cNvPr id="9" name="Rectangle 8"/>
          <p:cNvSpPr/>
          <p:nvPr/>
        </p:nvSpPr>
        <p:spPr>
          <a:xfrm>
            <a:off x="502920" y="1554480"/>
            <a:ext cx="2672334"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554480"/>
            <a:ext cx="2672334"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2306574"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CALLBACKS DISCOVERED</a:t>
            </a:r>
          </a:p>
        </p:txBody>
      </p:sp>
      <p:sp>
        <p:nvSpPr>
          <p:cNvPr id="12" name="TextBox 11"/>
          <p:cNvSpPr txBox="1"/>
          <p:nvPr/>
        </p:nvSpPr>
        <p:spPr>
          <a:xfrm>
            <a:off x="685800" y="2468880"/>
            <a:ext cx="2306574" cy="777240"/>
          </a:xfrm>
          <a:prstGeom prst="rect">
            <a:avLst/>
          </a:prstGeom>
          <a:noFill/>
        </p:spPr>
        <p:txBody>
          <a:bodyPr wrap="square" lIns="0" rIns="0" tIns="0" bIns="0" anchor="t"/>
          <a:lstStyle/>
          <a:p>
            <a:pPr algn="l">
              <a:spcBef>
                <a:spcPts val="0"/>
              </a:spcBef>
              <a:spcAft>
                <a:spcPts val="0"/>
              </a:spcAft>
            </a:pPr>
            <a:r>
              <a:rPr sz="3200" b="1">
                <a:solidFill>
                  <a:srgbClr val="0B1F33"/>
                </a:solidFill>
                <a:latin typeface="Calibri"/>
                <a:ea typeface="Calibri"/>
                <a:cs typeface="Calibri"/>
              </a:rPr>
              <a:t>X  of  X</a:t>
            </a:r>
          </a:p>
        </p:txBody>
      </p:sp>
      <p:sp>
        <p:nvSpPr>
          <p:cNvPr id="13" name="TextBox 12"/>
          <p:cNvSpPr txBox="1"/>
          <p:nvPr/>
        </p:nvSpPr>
        <p:spPr>
          <a:xfrm>
            <a:off x="685800" y="3383280"/>
            <a:ext cx="2306574" cy="640080"/>
          </a:xfrm>
          <a:prstGeom prst="rect">
            <a:avLst/>
          </a:prstGeom>
          <a:noFill/>
        </p:spPr>
        <p:txBody>
          <a:bodyPr wrap="square" lIns="0" rIns="0" tIns="0" bIns="0" anchor="t"/>
          <a:lstStyle/>
          <a:p>
            <a:pPr algn="l">
              <a:spcBef>
                <a:spcPts val="0"/>
              </a:spcBef>
              <a:spcAft>
                <a:spcPts val="0"/>
              </a:spcAft>
            </a:pPr>
            <a:r>
              <a:rPr sz="1300" b="0">
                <a:solidFill>
                  <a:srgbClr val="5C6B7A"/>
                </a:solidFill>
                <a:latin typeface="Calibri"/>
                <a:ea typeface="Calibri"/>
                <a:cs typeface="Calibri"/>
              </a:rPr>
              <a:t>Channels they could name.</a:t>
            </a:r>
          </a:p>
        </p:txBody>
      </p:sp>
      <p:sp>
        <p:nvSpPr>
          <p:cNvPr id="14" name="Rectangle 13"/>
          <p:cNvSpPr/>
          <p:nvPr/>
        </p:nvSpPr>
        <p:spPr>
          <a:xfrm>
            <a:off x="3339846" y="1554480"/>
            <a:ext cx="2672334"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39846" y="1554480"/>
            <a:ext cx="2672334"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2726" y="1810512"/>
            <a:ext cx="2306574"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USERS DISCOVERED</a:t>
            </a:r>
          </a:p>
        </p:txBody>
      </p:sp>
      <p:sp>
        <p:nvSpPr>
          <p:cNvPr id="17" name="TextBox 16"/>
          <p:cNvSpPr txBox="1"/>
          <p:nvPr/>
        </p:nvSpPr>
        <p:spPr>
          <a:xfrm>
            <a:off x="3522726" y="2468880"/>
            <a:ext cx="2306574" cy="777240"/>
          </a:xfrm>
          <a:prstGeom prst="rect">
            <a:avLst/>
          </a:prstGeom>
          <a:noFill/>
        </p:spPr>
        <p:txBody>
          <a:bodyPr wrap="square" lIns="0" rIns="0" tIns="0" bIns="0" anchor="t"/>
          <a:lstStyle/>
          <a:p>
            <a:pPr algn="l">
              <a:spcBef>
                <a:spcPts val="0"/>
              </a:spcBef>
              <a:spcAft>
                <a:spcPts val="0"/>
              </a:spcAft>
            </a:pPr>
            <a:r>
              <a:rPr sz="3200" b="1">
                <a:solidFill>
                  <a:srgbClr val="0B1F33"/>
                </a:solidFill>
                <a:latin typeface="Calibri"/>
                <a:ea typeface="Calibri"/>
                <a:cs typeface="Calibri"/>
              </a:rPr>
              <a:t>X  of  X</a:t>
            </a:r>
          </a:p>
        </p:txBody>
      </p:sp>
      <p:sp>
        <p:nvSpPr>
          <p:cNvPr id="18" name="TextBox 17"/>
          <p:cNvSpPr txBox="1"/>
          <p:nvPr/>
        </p:nvSpPr>
        <p:spPr>
          <a:xfrm>
            <a:off x="3522726" y="3383280"/>
            <a:ext cx="2306574" cy="640080"/>
          </a:xfrm>
          <a:prstGeom prst="rect">
            <a:avLst/>
          </a:prstGeom>
          <a:noFill/>
        </p:spPr>
        <p:txBody>
          <a:bodyPr wrap="square" lIns="0" rIns="0" tIns="0" bIns="0" anchor="t"/>
          <a:lstStyle/>
          <a:p>
            <a:pPr algn="l">
              <a:spcBef>
                <a:spcPts val="0"/>
              </a:spcBef>
              <a:spcAft>
                <a:spcPts val="0"/>
              </a:spcAft>
            </a:pPr>
            <a:r>
              <a:rPr sz="1300" b="0">
                <a:solidFill>
                  <a:srgbClr val="5C6B7A"/>
                </a:solidFill>
                <a:latin typeface="Calibri"/>
                <a:ea typeface="Calibri"/>
                <a:cs typeface="Calibri"/>
              </a:rPr>
              <a:t>Accounts that were not theirs.</a:t>
            </a:r>
          </a:p>
        </p:txBody>
      </p:sp>
      <p:sp>
        <p:nvSpPr>
          <p:cNvPr id="19" name="Rectangle 18"/>
          <p:cNvSpPr/>
          <p:nvPr/>
        </p:nvSpPr>
        <p:spPr>
          <a:xfrm>
            <a:off x="6176772" y="1554480"/>
            <a:ext cx="2672334"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6772" y="1554480"/>
            <a:ext cx="2672334" cy="73152"/>
          </a:xfrm>
          <a:prstGeom prst="rect">
            <a:avLst/>
          </a:prstGeom>
          <a:solidFill>
            <a:srgbClr val="9A5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9652" y="1810512"/>
            <a:ext cx="2306574" cy="640080"/>
          </a:xfrm>
          <a:prstGeom prst="rect">
            <a:avLst/>
          </a:prstGeom>
          <a:noFill/>
        </p:spPr>
        <p:txBody>
          <a:bodyPr wrap="square" lIns="0" rIns="0" tIns="0" bIns="0" anchor="t"/>
          <a:lstStyle/>
          <a:p>
            <a:pPr algn="l">
              <a:spcBef>
                <a:spcPts val="0"/>
              </a:spcBef>
              <a:spcAft>
                <a:spcPts val="0"/>
              </a:spcAft>
            </a:pPr>
            <a:r>
              <a:rPr sz="1200" b="1">
                <a:solidFill>
                  <a:srgbClr val="9A5B12"/>
                </a:solidFill>
                <a:latin typeface="Calibri"/>
                <a:ea typeface="Calibri"/>
                <a:cs typeface="Calibri"/>
              </a:rPr>
              <a:t>CONNECTIONS STILL ALIVE</a:t>
            </a:r>
          </a:p>
        </p:txBody>
      </p:sp>
      <p:sp>
        <p:nvSpPr>
          <p:cNvPr id="22" name="TextBox 21"/>
          <p:cNvSpPr txBox="1"/>
          <p:nvPr/>
        </p:nvSpPr>
        <p:spPr>
          <a:xfrm>
            <a:off x="6359652" y="2468880"/>
            <a:ext cx="2306574" cy="777240"/>
          </a:xfrm>
          <a:prstGeom prst="rect">
            <a:avLst/>
          </a:prstGeom>
          <a:noFill/>
        </p:spPr>
        <p:txBody>
          <a:bodyPr wrap="square" lIns="0" rIns="0" tIns="0" bIns="0" anchor="t"/>
          <a:lstStyle/>
          <a:p>
            <a:pPr algn="l">
              <a:spcBef>
                <a:spcPts val="0"/>
              </a:spcBef>
              <a:spcAft>
                <a:spcPts val="0"/>
              </a:spcAft>
            </a:pPr>
            <a:r>
              <a:rPr sz="3200" b="1">
                <a:solidFill>
                  <a:srgbClr val="0B1F33"/>
                </a:solidFill>
                <a:latin typeface="Calibri"/>
                <a:ea typeface="Calibri"/>
                <a:cs typeface="Calibri"/>
              </a:rPr>
              <a:t>X  of  X</a:t>
            </a:r>
          </a:p>
        </p:txBody>
      </p:sp>
      <p:sp>
        <p:nvSpPr>
          <p:cNvPr id="23" name="TextBox 22"/>
          <p:cNvSpPr txBox="1"/>
          <p:nvPr/>
        </p:nvSpPr>
        <p:spPr>
          <a:xfrm>
            <a:off x="6359652" y="3383280"/>
            <a:ext cx="2306574" cy="640080"/>
          </a:xfrm>
          <a:prstGeom prst="rect">
            <a:avLst/>
          </a:prstGeom>
          <a:noFill/>
        </p:spPr>
        <p:txBody>
          <a:bodyPr wrap="square" lIns="0" rIns="0" tIns="0" bIns="0" anchor="t"/>
          <a:lstStyle/>
          <a:p>
            <a:pPr algn="l">
              <a:spcBef>
                <a:spcPts val="0"/>
              </a:spcBef>
              <a:spcAft>
                <a:spcPts val="0"/>
              </a:spcAft>
            </a:pPr>
            <a:r>
              <a:rPr sz="1300" b="0">
                <a:solidFill>
                  <a:srgbClr val="5C6B7A"/>
                </a:solidFill>
                <a:latin typeface="Calibri"/>
                <a:ea typeface="Calibri"/>
                <a:cs typeface="Calibri"/>
              </a:rPr>
              <a:t>Sessions I still held.</a:t>
            </a:r>
          </a:p>
        </p:txBody>
      </p:sp>
      <p:sp>
        <p:nvSpPr>
          <p:cNvPr id="24" name="Rectangle 23"/>
          <p:cNvSpPr/>
          <p:nvPr/>
        </p:nvSpPr>
        <p:spPr>
          <a:xfrm>
            <a:off x="9013698" y="1554480"/>
            <a:ext cx="2672334" cy="2880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13698" y="1554480"/>
            <a:ext cx="2672334" cy="73152"/>
          </a:xfrm>
          <a:prstGeom prst="rect">
            <a:avLst/>
          </a:prstGeom>
          <a:solidFill>
            <a:srgbClr val="9A5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6578" y="1810512"/>
            <a:ext cx="2306574" cy="640080"/>
          </a:xfrm>
          <a:prstGeom prst="rect">
            <a:avLst/>
          </a:prstGeom>
          <a:noFill/>
        </p:spPr>
        <p:txBody>
          <a:bodyPr wrap="square" lIns="0" rIns="0" tIns="0" bIns="0" anchor="t"/>
          <a:lstStyle/>
          <a:p>
            <a:pPr algn="l">
              <a:spcBef>
                <a:spcPts val="0"/>
              </a:spcBef>
              <a:spcAft>
                <a:spcPts val="0"/>
              </a:spcAft>
            </a:pPr>
            <a:r>
              <a:rPr sz="1200" b="1">
                <a:solidFill>
                  <a:srgbClr val="9A5B12"/>
                </a:solidFill>
                <a:latin typeface="Calibri"/>
                <a:ea typeface="Calibri"/>
                <a:cs typeface="Calibri"/>
              </a:rPr>
              <a:t>SUDO OR ADMIN STILL HELD</a:t>
            </a:r>
          </a:p>
        </p:txBody>
      </p:sp>
      <p:sp>
        <p:nvSpPr>
          <p:cNvPr id="27" name="TextBox 26"/>
          <p:cNvSpPr txBox="1"/>
          <p:nvPr/>
        </p:nvSpPr>
        <p:spPr>
          <a:xfrm>
            <a:off x="9196578" y="2468880"/>
            <a:ext cx="2306574" cy="777240"/>
          </a:xfrm>
          <a:prstGeom prst="rect">
            <a:avLst/>
          </a:prstGeom>
          <a:noFill/>
        </p:spPr>
        <p:txBody>
          <a:bodyPr wrap="square" lIns="0" rIns="0" tIns="0" bIns="0" anchor="t"/>
          <a:lstStyle/>
          <a:p>
            <a:pPr algn="l">
              <a:spcBef>
                <a:spcPts val="0"/>
              </a:spcBef>
              <a:spcAft>
                <a:spcPts val="0"/>
              </a:spcAft>
            </a:pPr>
            <a:r>
              <a:rPr sz="3200" b="1">
                <a:solidFill>
                  <a:srgbClr val="0B1F33"/>
                </a:solidFill>
                <a:latin typeface="Calibri"/>
                <a:ea typeface="Calibri"/>
                <a:cs typeface="Calibri"/>
              </a:rPr>
              <a:t>X  of  X</a:t>
            </a:r>
          </a:p>
        </p:txBody>
      </p:sp>
      <p:sp>
        <p:nvSpPr>
          <p:cNvPr id="28" name="TextBox 27"/>
          <p:cNvSpPr txBox="1"/>
          <p:nvPr/>
        </p:nvSpPr>
        <p:spPr>
          <a:xfrm>
            <a:off x="9196578" y="3383280"/>
            <a:ext cx="2306574" cy="640080"/>
          </a:xfrm>
          <a:prstGeom prst="rect">
            <a:avLst/>
          </a:prstGeom>
          <a:noFill/>
        </p:spPr>
        <p:txBody>
          <a:bodyPr wrap="square" lIns="0" rIns="0" tIns="0" bIns="0" anchor="t"/>
          <a:lstStyle/>
          <a:p>
            <a:pPr algn="l">
              <a:spcBef>
                <a:spcPts val="0"/>
              </a:spcBef>
              <a:spcAft>
                <a:spcPts val="0"/>
              </a:spcAft>
            </a:pPr>
            <a:r>
              <a:rPr sz="1300" b="0">
                <a:solidFill>
                  <a:srgbClr val="5C6B7A"/>
                </a:solidFill>
                <a:latin typeface="Calibri"/>
                <a:ea typeface="Calibri"/>
                <a:cs typeface="Calibri"/>
              </a:rPr>
              <a:t>Devices, not accounts.</a:t>
            </a:r>
          </a:p>
        </p:txBody>
      </p:sp>
      <p:sp>
        <p:nvSpPr>
          <p:cNvPr id="29" name="Rectangle 28"/>
          <p:cNvSpPr/>
          <p:nvPr/>
        </p:nvSpPr>
        <p:spPr>
          <a:xfrm>
            <a:off x="502920" y="4709160"/>
            <a:ext cx="11183112" cy="141732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864608"/>
            <a:ext cx="54864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HOW TO SCORE IT</a:t>
            </a:r>
          </a:p>
        </p:txBody>
      </p:sp>
      <p:sp>
        <p:nvSpPr>
          <p:cNvPr id="31" name="TextBox 30"/>
          <p:cNvSpPr txBox="1"/>
          <p:nvPr/>
        </p:nvSpPr>
        <p:spPr>
          <a:xfrm>
            <a:off x="731520" y="5138928"/>
            <a:ext cx="10607040" cy="822960"/>
          </a:xfrm>
          <a:prstGeom prst="rect">
            <a:avLst/>
          </a:prstGeom>
          <a:noFill/>
        </p:spPr>
        <p:txBody>
          <a:bodyPr wrap="square" lIns="0" rIns="0" tIns="0" bIns="0" anchor="t"/>
          <a:lstStyle/>
          <a:p>
            <a:pPr algn="l">
              <a:spcBef>
                <a:spcPts val="0"/>
              </a:spcBef>
              <a:spcAft>
                <a:spcPts val="400"/>
              </a:spcAft>
            </a:pPr>
            <a:r>
              <a:rPr sz="1400" b="0">
                <a:solidFill>
                  <a:srgbClr val="FFFFFF"/>
                </a:solidFill>
                <a:latin typeface="Calibri"/>
                <a:ea typeface="Calibri"/>
                <a:cs typeface="Calibri"/>
              </a:rPr>
              <a:t>Callbacks: agents you planted, against the ones they found.</a:t>
            </a:r>
          </a:p>
          <a:p>
            <a:pPr algn="l">
              <a:spcBef>
                <a:spcPts val="0"/>
              </a:spcBef>
              <a:spcAft>
                <a:spcPts val="400"/>
              </a:spcAft>
            </a:pPr>
            <a:r>
              <a:rPr sz="1400" b="0">
                <a:solidFill>
                  <a:srgbClr val="FFFFFF"/>
                </a:solidFill>
                <a:latin typeface="Calibri"/>
                <a:ea typeface="Calibri"/>
                <a:cs typeface="Calibri"/>
              </a:rPr>
              <a:t>Users: accounts you added or altered, against the ones they named.</a:t>
            </a:r>
          </a:p>
          <a:p>
            <a:pPr algn="l">
              <a:spcBef>
                <a:spcPts val="0"/>
              </a:spcBef>
              <a:spcAft>
                <a:spcPts val="0"/>
              </a:spcAft>
            </a:pPr>
            <a:r>
              <a:rPr sz="1400" b="0">
                <a:solidFill>
                  <a:srgbClr val="FFFFFF"/>
                </a:solidFill>
                <a:latin typeface="Calibri"/>
                <a:ea typeface="Calibri"/>
                <a:cs typeface="Calibri"/>
              </a:rPr>
              <a:t>Alive means I could still use it when the exercise clock stopped.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DURING THE EXERCISE</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What I did</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03  /  10</a:t>
            </a:r>
          </a:p>
        </p:txBody>
      </p:sp>
      <p:sp>
        <p:nvSpPr>
          <p:cNvPr id="8" name="TextBox 7"/>
          <p:cNvSpPr txBox="1"/>
          <p:nvPr/>
        </p:nvSpPr>
        <p:spPr>
          <a:xfrm>
            <a:off x="502920" y="1024128"/>
            <a:ext cx="10972800" cy="256032"/>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Delete any row you did not use. The last column is after their remediation, not during the attack.</a:t>
            </a:r>
          </a:p>
        </p:txBody>
      </p:sp>
      <p:sp>
        <p:nvSpPr>
          <p:cNvPr id="9" name="Rectangle 8"/>
          <p:cNvSpPr/>
          <p:nvPr/>
        </p:nvSpPr>
        <p:spPr>
          <a:xfrm>
            <a:off x="502920" y="1417320"/>
            <a:ext cx="210312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17320"/>
            <a:ext cx="195681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ACTION</a:t>
            </a:r>
          </a:p>
        </p:txBody>
      </p:sp>
      <p:sp>
        <p:nvSpPr>
          <p:cNvPr id="11" name="Rectangle 10"/>
          <p:cNvSpPr/>
          <p:nvPr/>
        </p:nvSpPr>
        <p:spPr>
          <a:xfrm>
            <a:off x="2606039" y="1417320"/>
            <a:ext cx="228600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79" y="1417320"/>
            <a:ext cx="213969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WHERE</a:t>
            </a:r>
          </a:p>
        </p:txBody>
      </p:sp>
      <p:sp>
        <p:nvSpPr>
          <p:cNvPr id="13" name="Rectangle 12"/>
          <p:cNvSpPr/>
          <p:nvPr/>
        </p:nvSpPr>
        <p:spPr>
          <a:xfrm>
            <a:off x="4892040" y="1417320"/>
            <a:ext cx="489204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3479" y="1417320"/>
            <a:ext cx="474573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THE TELL</a:t>
            </a:r>
          </a:p>
        </p:txBody>
      </p:sp>
      <p:sp>
        <p:nvSpPr>
          <p:cNvPr id="15" name="Rectangle 14"/>
          <p:cNvSpPr/>
          <p:nvPr/>
        </p:nvSpPr>
        <p:spPr>
          <a:xfrm>
            <a:off x="9784080" y="1417320"/>
            <a:ext cx="190195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19" y="1417320"/>
            <a:ext cx="1755648"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STILL THERE</a:t>
            </a:r>
          </a:p>
        </p:txBody>
      </p:sp>
      <p:sp>
        <p:nvSpPr>
          <p:cNvPr id="17" name="Rectangle 16"/>
          <p:cNvSpPr/>
          <p:nvPr/>
        </p:nvSpPr>
        <p:spPr>
          <a:xfrm>
            <a:off x="502920" y="1746504"/>
            <a:ext cx="11183111"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1945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7465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Callback</a:t>
            </a:r>
          </a:p>
        </p:txBody>
      </p:sp>
      <p:sp>
        <p:nvSpPr>
          <p:cNvPr id="20" name="TextBox 19"/>
          <p:cNvSpPr txBox="1"/>
          <p:nvPr/>
        </p:nvSpPr>
        <p:spPr>
          <a:xfrm>
            <a:off x="2697479" y="17465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21" name="TextBox 20"/>
          <p:cNvSpPr txBox="1"/>
          <p:nvPr/>
        </p:nvSpPr>
        <p:spPr>
          <a:xfrm>
            <a:off x="4983479" y="17465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A channel and a process</a:t>
            </a:r>
          </a:p>
        </p:txBody>
      </p:sp>
      <p:sp>
        <p:nvSpPr>
          <p:cNvPr id="22" name="TextBox 21"/>
          <p:cNvSpPr txBox="1"/>
          <p:nvPr/>
        </p:nvSpPr>
        <p:spPr>
          <a:xfrm>
            <a:off x="9875519" y="17465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3" name="Rectangle 22"/>
          <p:cNvSpPr/>
          <p:nvPr/>
        </p:nvSpPr>
        <p:spPr>
          <a:xfrm>
            <a:off x="502920" y="2203704"/>
            <a:ext cx="11183111" cy="45720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6517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2037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Service account</a:t>
            </a:r>
          </a:p>
        </p:txBody>
      </p:sp>
      <p:sp>
        <p:nvSpPr>
          <p:cNvPr id="26" name="TextBox 25"/>
          <p:cNvSpPr txBox="1"/>
          <p:nvPr/>
        </p:nvSpPr>
        <p:spPr>
          <a:xfrm>
            <a:off x="2697479" y="22037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27" name="TextBox 26"/>
          <p:cNvSpPr txBox="1"/>
          <p:nvPr/>
        </p:nvSpPr>
        <p:spPr>
          <a:xfrm>
            <a:off x="4983479" y="22037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A quiet user in the sudo group</a:t>
            </a:r>
          </a:p>
        </p:txBody>
      </p:sp>
      <p:sp>
        <p:nvSpPr>
          <p:cNvPr id="28" name="TextBox 27"/>
          <p:cNvSpPr txBox="1"/>
          <p:nvPr/>
        </p:nvSpPr>
        <p:spPr>
          <a:xfrm>
            <a:off x="9875519" y="22037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9" name="Rectangle 28"/>
          <p:cNvSpPr/>
          <p:nvPr/>
        </p:nvSpPr>
        <p:spPr>
          <a:xfrm>
            <a:off x="502920" y="2660904"/>
            <a:ext cx="11183111"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31089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6609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Login shell</a:t>
            </a:r>
          </a:p>
        </p:txBody>
      </p:sp>
      <p:sp>
        <p:nvSpPr>
          <p:cNvPr id="32" name="TextBox 31"/>
          <p:cNvSpPr txBox="1"/>
          <p:nvPr/>
        </p:nvSpPr>
        <p:spPr>
          <a:xfrm>
            <a:off x="2697479" y="26609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defender</a:t>
            </a:r>
          </a:p>
        </p:txBody>
      </p:sp>
      <p:sp>
        <p:nvSpPr>
          <p:cNvPr id="33" name="TextBox 32"/>
          <p:cNvSpPr txBox="1"/>
          <p:nvPr/>
        </p:nvSpPr>
        <p:spPr>
          <a:xfrm>
            <a:off x="4983479" y="26609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Shell is vi, python, or perl</a:t>
            </a:r>
          </a:p>
        </p:txBody>
      </p:sp>
      <p:sp>
        <p:nvSpPr>
          <p:cNvPr id="34" name="TextBox 33"/>
          <p:cNvSpPr txBox="1"/>
          <p:nvPr/>
        </p:nvSpPr>
        <p:spPr>
          <a:xfrm>
            <a:off x="9875519" y="26609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5" name="Rectangle 34"/>
          <p:cNvSpPr/>
          <p:nvPr/>
        </p:nvSpPr>
        <p:spPr>
          <a:xfrm>
            <a:off x="502920" y="3118104"/>
            <a:ext cx="11183111" cy="45720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35661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1181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Persistence</a:t>
            </a:r>
          </a:p>
        </p:txBody>
      </p:sp>
      <p:sp>
        <p:nvSpPr>
          <p:cNvPr id="38" name="TextBox 37"/>
          <p:cNvSpPr txBox="1"/>
          <p:nvPr/>
        </p:nvSpPr>
        <p:spPr>
          <a:xfrm>
            <a:off x="2697479" y="31181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39" name="TextBox 38"/>
          <p:cNvSpPr txBox="1"/>
          <p:nvPr/>
        </p:nvSpPr>
        <p:spPr>
          <a:xfrm>
            <a:off x="4983479" y="31181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mailq-local, or a reboot cron</a:t>
            </a:r>
          </a:p>
        </p:txBody>
      </p:sp>
      <p:sp>
        <p:nvSpPr>
          <p:cNvPr id="40" name="TextBox 39"/>
          <p:cNvSpPr txBox="1"/>
          <p:nvPr/>
        </p:nvSpPr>
        <p:spPr>
          <a:xfrm>
            <a:off x="9875519" y="31181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1" name="Rectangle 40"/>
          <p:cNvSpPr/>
          <p:nvPr/>
        </p:nvSpPr>
        <p:spPr>
          <a:xfrm>
            <a:off x="502920" y="3575304"/>
            <a:ext cx="11183111"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40233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5753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Cloak</a:t>
            </a:r>
          </a:p>
        </p:txBody>
      </p:sp>
      <p:sp>
        <p:nvSpPr>
          <p:cNvPr id="44" name="TextBox 43"/>
          <p:cNvSpPr txBox="1"/>
          <p:nvPr/>
        </p:nvSpPr>
        <p:spPr>
          <a:xfrm>
            <a:off x="2697479" y="35753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45" name="TextBox 44"/>
          <p:cNvSpPr txBox="1"/>
          <p:nvPr/>
        </p:nvSpPr>
        <p:spPr>
          <a:xfrm>
            <a:off x="4983479" y="35753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false and nologin are bash</a:t>
            </a:r>
          </a:p>
        </p:txBody>
      </p:sp>
      <p:sp>
        <p:nvSpPr>
          <p:cNvPr id="46" name="TextBox 45"/>
          <p:cNvSpPr txBox="1"/>
          <p:nvPr/>
        </p:nvSpPr>
        <p:spPr>
          <a:xfrm>
            <a:off x="9875519" y="35753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4032504"/>
            <a:ext cx="11183111" cy="45720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4805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0325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Veil</a:t>
            </a:r>
          </a:p>
        </p:txBody>
      </p:sp>
      <p:sp>
        <p:nvSpPr>
          <p:cNvPr id="50" name="TextBox 49"/>
          <p:cNvSpPr txBox="1"/>
          <p:nvPr/>
        </p:nvSpPr>
        <p:spPr>
          <a:xfrm>
            <a:off x="2697479" y="40325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51" name="TextBox 50"/>
          <p:cNvSpPr txBox="1"/>
          <p:nvPr/>
        </p:nvSpPr>
        <p:spPr>
          <a:xfrm>
            <a:off x="4983479" y="40325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ps, ss, netstat, w, who hide me</a:t>
            </a:r>
          </a:p>
        </p:txBody>
      </p:sp>
      <p:sp>
        <p:nvSpPr>
          <p:cNvPr id="52" name="TextBox 51"/>
          <p:cNvSpPr txBox="1"/>
          <p:nvPr/>
        </p:nvSpPr>
        <p:spPr>
          <a:xfrm>
            <a:off x="9875519" y="40325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3" name="Rectangle 52"/>
          <p:cNvSpPr/>
          <p:nvPr/>
        </p:nvSpPr>
        <p:spPr>
          <a:xfrm>
            <a:off x="502920" y="4489704"/>
            <a:ext cx="11183111"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49377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44897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Defacement</a:t>
            </a:r>
          </a:p>
        </p:txBody>
      </p:sp>
      <p:sp>
        <p:nvSpPr>
          <p:cNvPr id="56" name="TextBox 55"/>
          <p:cNvSpPr txBox="1"/>
          <p:nvPr/>
        </p:nvSpPr>
        <p:spPr>
          <a:xfrm>
            <a:off x="2697479" y="44897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172.24.10.180</a:t>
            </a:r>
          </a:p>
        </p:txBody>
      </p:sp>
      <p:sp>
        <p:nvSpPr>
          <p:cNvPr id="57" name="TextBox 56"/>
          <p:cNvSpPr txBox="1"/>
          <p:nvPr/>
        </p:nvSpPr>
        <p:spPr>
          <a:xfrm>
            <a:off x="4983479" y="44897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The page will not save</a:t>
            </a:r>
          </a:p>
        </p:txBody>
      </p:sp>
      <p:sp>
        <p:nvSpPr>
          <p:cNvPr id="58" name="TextBox 57"/>
          <p:cNvSpPr txBox="1"/>
          <p:nvPr/>
        </p:nvSpPr>
        <p:spPr>
          <a:xfrm>
            <a:off x="9875519" y="44897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9" name="Rectangle 58"/>
          <p:cNvSpPr/>
          <p:nvPr/>
        </p:nvSpPr>
        <p:spPr>
          <a:xfrm>
            <a:off x="502920" y="4946904"/>
            <a:ext cx="11183111" cy="45720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2920" y="53949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49469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Timestamps</a:t>
            </a:r>
          </a:p>
        </p:txBody>
      </p:sp>
      <p:sp>
        <p:nvSpPr>
          <p:cNvPr id="62" name="TextBox 61"/>
          <p:cNvSpPr txBox="1"/>
          <p:nvPr/>
        </p:nvSpPr>
        <p:spPr>
          <a:xfrm>
            <a:off x="2697479" y="49469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Touched files</a:t>
            </a:r>
          </a:p>
        </p:txBody>
      </p:sp>
      <p:sp>
        <p:nvSpPr>
          <p:cNvPr id="63" name="TextBox 62"/>
          <p:cNvSpPr txBox="1"/>
          <p:nvPr/>
        </p:nvSpPr>
        <p:spPr>
          <a:xfrm>
            <a:off x="4983479" y="49469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Times match a system file</a:t>
            </a:r>
          </a:p>
        </p:txBody>
      </p:sp>
      <p:sp>
        <p:nvSpPr>
          <p:cNvPr id="64" name="TextBox 63"/>
          <p:cNvSpPr txBox="1"/>
          <p:nvPr/>
        </p:nvSpPr>
        <p:spPr>
          <a:xfrm>
            <a:off x="9875519" y="49469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5" name="Rectangle 64"/>
          <p:cNvSpPr/>
          <p:nvPr/>
        </p:nvSpPr>
        <p:spPr>
          <a:xfrm>
            <a:off x="502920" y="5404104"/>
            <a:ext cx="11183111"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5852160"/>
            <a:ext cx="11183111"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5404104"/>
            <a:ext cx="1956815" cy="45720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Cleared logs</a:t>
            </a:r>
          </a:p>
        </p:txBody>
      </p:sp>
      <p:sp>
        <p:nvSpPr>
          <p:cNvPr id="68" name="TextBox 67"/>
          <p:cNvSpPr txBox="1"/>
          <p:nvPr/>
        </p:nvSpPr>
        <p:spPr>
          <a:xfrm>
            <a:off x="2697479" y="5404104"/>
            <a:ext cx="213969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Planted host</a:t>
            </a:r>
          </a:p>
        </p:txBody>
      </p:sp>
      <p:sp>
        <p:nvSpPr>
          <p:cNvPr id="69" name="TextBox 68"/>
          <p:cNvSpPr txBox="1"/>
          <p:nvPr/>
        </p:nvSpPr>
        <p:spPr>
          <a:xfrm>
            <a:off x="4983479" y="5404104"/>
            <a:ext cx="4745736" cy="45720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auth, wtmp, and journal are empty</a:t>
            </a:r>
          </a:p>
        </p:txBody>
      </p:sp>
      <p:sp>
        <p:nvSpPr>
          <p:cNvPr id="70" name="TextBox 69"/>
          <p:cNvSpPr txBox="1"/>
          <p:nvPr/>
        </p:nvSpPr>
        <p:spPr>
          <a:xfrm>
            <a:off x="9875519" y="5404104"/>
            <a:ext cx="1755648" cy="45720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CALLBACKS</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X of X discovered.  X of X still calling back.</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04  /  10</a:t>
            </a:r>
          </a:p>
        </p:txBody>
      </p:sp>
      <p:sp>
        <p:nvSpPr>
          <p:cNvPr id="8" name="TextBox 7"/>
          <p:cNvSpPr txBox="1"/>
          <p:nvPr/>
        </p:nvSpPr>
        <p:spPr>
          <a:xfrm>
            <a:off x="502920" y="1024128"/>
            <a:ext cx="10972800" cy="256032"/>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One row per agent you planted. A host with no agent is not a miss.</a:t>
            </a:r>
          </a:p>
        </p:txBody>
      </p:sp>
      <p:sp>
        <p:nvSpPr>
          <p:cNvPr id="9" name="Rectangle 8"/>
          <p:cNvSpPr/>
          <p:nvPr/>
        </p:nvSpPr>
        <p:spPr>
          <a:xfrm>
            <a:off x="502920" y="1371600"/>
            <a:ext cx="219456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71600"/>
            <a:ext cx="204825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DEVICE</a:t>
            </a:r>
          </a:p>
        </p:txBody>
      </p:sp>
      <p:sp>
        <p:nvSpPr>
          <p:cNvPr id="11" name="Rectangle 10"/>
          <p:cNvSpPr/>
          <p:nvPr/>
        </p:nvSpPr>
        <p:spPr>
          <a:xfrm>
            <a:off x="2697480" y="1371600"/>
            <a:ext cx="228600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1371600"/>
            <a:ext cx="213969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IP</a:t>
            </a:r>
          </a:p>
        </p:txBody>
      </p:sp>
      <p:sp>
        <p:nvSpPr>
          <p:cNvPr id="13" name="Rectangle 12"/>
          <p:cNvSpPr/>
          <p:nvPr/>
        </p:nvSpPr>
        <p:spPr>
          <a:xfrm>
            <a:off x="4983480" y="1371600"/>
            <a:ext cx="24688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1371600"/>
            <a:ext cx="23225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CHANNEL</a:t>
            </a:r>
          </a:p>
        </p:txBody>
      </p:sp>
      <p:sp>
        <p:nvSpPr>
          <p:cNvPr id="15" name="Rectangle 14"/>
          <p:cNvSpPr/>
          <p:nvPr/>
        </p:nvSpPr>
        <p:spPr>
          <a:xfrm>
            <a:off x="7452360" y="1371600"/>
            <a:ext cx="210312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0" y="1371600"/>
            <a:ext cx="195681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FOUND</a:t>
            </a:r>
          </a:p>
        </p:txBody>
      </p:sp>
      <p:sp>
        <p:nvSpPr>
          <p:cNvPr id="17" name="Rectangle 16"/>
          <p:cNvSpPr/>
          <p:nvPr/>
        </p:nvSpPr>
        <p:spPr>
          <a:xfrm>
            <a:off x="9555480" y="1371600"/>
            <a:ext cx="213055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19" y="1371600"/>
            <a:ext cx="1984248"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STILL ALIVE</a:t>
            </a:r>
          </a:p>
        </p:txBody>
      </p:sp>
      <p:sp>
        <p:nvSpPr>
          <p:cNvPr id="19" name="Rectangle 18"/>
          <p:cNvSpPr/>
          <p:nvPr/>
        </p:nvSpPr>
        <p:spPr>
          <a:xfrm>
            <a:off x="502920" y="1700784"/>
            <a:ext cx="1118311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18541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700784"/>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LAN router</a:t>
            </a:r>
          </a:p>
        </p:txBody>
      </p:sp>
      <p:sp>
        <p:nvSpPr>
          <p:cNvPr id="22" name="TextBox 21"/>
          <p:cNvSpPr txBox="1"/>
          <p:nvPr/>
        </p:nvSpPr>
        <p:spPr>
          <a:xfrm>
            <a:off x="2788920" y="1700784"/>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172.24.18.1</a:t>
            </a:r>
          </a:p>
        </p:txBody>
      </p:sp>
      <p:sp>
        <p:nvSpPr>
          <p:cNvPr id="23" name="TextBox 22"/>
          <p:cNvSpPr txBox="1"/>
          <p:nvPr/>
        </p:nvSpPr>
        <p:spPr>
          <a:xfrm>
            <a:off x="5074920" y="1700784"/>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4" name="TextBox 23"/>
          <p:cNvSpPr txBox="1"/>
          <p:nvPr/>
        </p:nvSpPr>
        <p:spPr>
          <a:xfrm>
            <a:off x="7543800" y="1700784"/>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5" name="TextBox 24"/>
          <p:cNvSpPr txBox="1"/>
          <p:nvPr/>
        </p:nvSpPr>
        <p:spPr>
          <a:xfrm>
            <a:off x="9646919" y="1700784"/>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6" name="Rectangle 25"/>
          <p:cNvSpPr/>
          <p:nvPr/>
        </p:nvSpPr>
        <p:spPr>
          <a:xfrm>
            <a:off x="502920" y="2194560"/>
            <a:ext cx="11183112" cy="493776"/>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267919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194560"/>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LAN2 router</a:t>
            </a:r>
          </a:p>
        </p:txBody>
      </p:sp>
      <p:sp>
        <p:nvSpPr>
          <p:cNvPr id="29" name="TextBox 28"/>
          <p:cNvSpPr txBox="1"/>
          <p:nvPr/>
        </p:nvSpPr>
        <p:spPr>
          <a:xfrm>
            <a:off x="2788920" y="2194560"/>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172.24.2.4</a:t>
            </a:r>
          </a:p>
        </p:txBody>
      </p:sp>
      <p:sp>
        <p:nvSpPr>
          <p:cNvPr id="30" name="TextBox 29"/>
          <p:cNvSpPr txBox="1"/>
          <p:nvPr/>
        </p:nvSpPr>
        <p:spPr>
          <a:xfrm>
            <a:off x="5074920" y="2194560"/>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1" name="TextBox 30"/>
          <p:cNvSpPr txBox="1"/>
          <p:nvPr/>
        </p:nvSpPr>
        <p:spPr>
          <a:xfrm>
            <a:off x="7543800" y="2194560"/>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2" name="TextBox 31"/>
          <p:cNvSpPr txBox="1"/>
          <p:nvPr/>
        </p:nvSpPr>
        <p:spPr>
          <a:xfrm>
            <a:off x="9646919" y="2194560"/>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3" name="Rectangle 32"/>
          <p:cNvSpPr/>
          <p:nvPr/>
        </p:nvSpPr>
        <p:spPr>
          <a:xfrm>
            <a:off x="502920" y="2688336"/>
            <a:ext cx="1118311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172968"/>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2688336"/>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Windows 10</a:t>
            </a:r>
          </a:p>
        </p:txBody>
      </p:sp>
      <p:sp>
        <p:nvSpPr>
          <p:cNvPr id="36" name="TextBox 35"/>
          <p:cNvSpPr txBox="1"/>
          <p:nvPr/>
        </p:nvSpPr>
        <p:spPr>
          <a:xfrm>
            <a:off x="2788920" y="2688336"/>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172.24.18.82</a:t>
            </a:r>
          </a:p>
        </p:txBody>
      </p:sp>
      <p:sp>
        <p:nvSpPr>
          <p:cNvPr id="37" name="TextBox 36"/>
          <p:cNvSpPr txBox="1"/>
          <p:nvPr/>
        </p:nvSpPr>
        <p:spPr>
          <a:xfrm>
            <a:off x="5074920" y="2688336"/>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8" name="TextBox 37"/>
          <p:cNvSpPr txBox="1"/>
          <p:nvPr/>
        </p:nvSpPr>
        <p:spPr>
          <a:xfrm>
            <a:off x="7543800" y="2688336"/>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9" name="TextBox 38"/>
          <p:cNvSpPr txBox="1"/>
          <p:nvPr/>
        </p:nvSpPr>
        <p:spPr>
          <a:xfrm>
            <a:off x="9646919" y="2688336"/>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0" name="Rectangle 39"/>
          <p:cNvSpPr/>
          <p:nvPr/>
        </p:nvSpPr>
        <p:spPr>
          <a:xfrm>
            <a:off x="502920" y="3182112"/>
            <a:ext cx="11183112" cy="493776"/>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366674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182112"/>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43" name="TextBox 42"/>
          <p:cNvSpPr txBox="1"/>
          <p:nvPr/>
        </p:nvSpPr>
        <p:spPr>
          <a:xfrm>
            <a:off x="2788920" y="3182112"/>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172.24.18.68</a:t>
            </a:r>
          </a:p>
        </p:txBody>
      </p:sp>
      <p:sp>
        <p:nvSpPr>
          <p:cNvPr id="44" name="TextBox 43"/>
          <p:cNvSpPr txBox="1"/>
          <p:nvPr/>
        </p:nvSpPr>
        <p:spPr>
          <a:xfrm>
            <a:off x="5074920" y="3182112"/>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5" name="TextBox 44"/>
          <p:cNvSpPr txBox="1"/>
          <p:nvPr/>
        </p:nvSpPr>
        <p:spPr>
          <a:xfrm>
            <a:off x="7543800" y="3182112"/>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6" name="TextBox 45"/>
          <p:cNvSpPr txBox="1"/>
          <p:nvPr/>
        </p:nvSpPr>
        <p:spPr>
          <a:xfrm>
            <a:off x="9646919" y="3182112"/>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3675887"/>
            <a:ext cx="1118311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160520"/>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675887"/>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50" name="TextBox 49"/>
          <p:cNvSpPr txBox="1"/>
          <p:nvPr/>
        </p:nvSpPr>
        <p:spPr>
          <a:xfrm>
            <a:off x="2788920" y="3675887"/>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172.24.10.150</a:t>
            </a:r>
          </a:p>
        </p:txBody>
      </p:sp>
      <p:sp>
        <p:nvSpPr>
          <p:cNvPr id="51" name="TextBox 50"/>
          <p:cNvSpPr txBox="1"/>
          <p:nvPr/>
        </p:nvSpPr>
        <p:spPr>
          <a:xfrm>
            <a:off x="5074920" y="3675887"/>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2" name="TextBox 51"/>
          <p:cNvSpPr txBox="1"/>
          <p:nvPr/>
        </p:nvSpPr>
        <p:spPr>
          <a:xfrm>
            <a:off x="7543800" y="3675887"/>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3" name="TextBox 52"/>
          <p:cNvSpPr txBox="1"/>
          <p:nvPr/>
        </p:nvSpPr>
        <p:spPr>
          <a:xfrm>
            <a:off x="9646919" y="3675887"/>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4" name="Rectangle 53"/>
          <p:cNvSpPr/>
          <p:nvPr/>
        </p:nvSpPr>
        <p:spPr>
          <a:xfrm>
            <a:off x="502920" y="4169664"/>
            <a:ext cx="11183112" cy="493776"/>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2920" y="465429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360" y="4169664"/>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9</a:t>
            </a:r>
          </a:p>
        </p:txBody>
      </p:sp>
      <p:sp>
        <p:nvSpPr>
          <p:cNvPr id="57" name="TextBox 56"/>
          <p:cNvSpPr txBox="1"/>
          <p:nvPr/>
        </p:nvSpPr>
        <p:spPr>
          <a:xfrm>
            <a:off x="2788920" y="4169664"/>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172.24.19.44</a:t>
            </a:r>
          </a:p>
        </p:txBody>
      </p:sp>
      <p:sp>
        <p:nvSpPr>
          <p:cNvPr id="58" name="TextBox 57"/>
          <p:cNvSpPr txBox="1"/>
          <p:nvPr/>
        </p:nvSpPr>
        <p:spPr>
          <a:xfrm>
            <a:off x="5074920" y="4169664"/>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9" name="TextBox 58"/>
          <p:cNvSpPr txBox="1"/>
          <p:nvPr/>
        </p:nvSpPr>
        <p:spPr>
          <a:xfrm>
            <a:off x="7543800" y="4169664"/>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0" name="TextBox 59"/>
          <p:cNvSpPr txBox="1"/>
          <p:nvPr/>
        </p:nvSpPr>
        <p:spPr>
          <a:xfrm>
            <a:off x="9646919" y="4169664"/>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1" name="Rectangle 60"/>
          <p:cNvSpPr/>
          <p:nvPr/>
        </p:nvSpPr>
        <p:spPr>
          <a:xfrm>
            <a:off x="502920" y="4663440"/>
            <a:ext cx="11183112" cy="4937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02920" y="514807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4663440"/>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NGINX</a:t>
            </a:r>
          </a:p>
        </p:txBody>
      </p:sp>
      <p:sp>
        <p:nvSpPr>
          <p:cNvPr id="64" name="TextBox 63"/>
          <p:cNvSpPr txBox="1"/>
          <p:nvPr/>
        </p:nvSpPr>
        <p:spPr>
          <a:xfrm>
            <a:off x="2788920" y="4663440"/>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172.24.10.180</a:t>
            </a:r>
          </a:p>
        </p:txBody>
      </p:sp>
      <p:sp>
        <p:nvSpPr>
          <p:cNvPr id="65" name="TextBox 64"/>
          <p:cNvSpPr txBox="1"/>
          <p:nvPr/>
        </p:nvSpPr>
        <p:spPr>
          <a:xfrm>
            <a:off x="5074920" y="4663440"/>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6" name="TextBox 65"/>
          <p:cNvSpPr txBox="1"/>
          <p:nvPr/>
        </p:nvSpPr>
        <p:spPr>
          <a:xfrm>
            <a:off x="7543800" y="4663440"/>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7" name="TextBox 66"/>
          <p:cNvSpPr txBox="1"/>
          <p:nvPr/>
        </p:nvSpPr>
        <p:spPr>
          <a:xfrm>
            <a:off x="9646919" y="4663440"/>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8" name="Rectangle 67"/>
          <p:cNvSpPr/>
          <p:nvPr/>
        </p:nvSpPr>
        <p:spPr>
          <a:xfrm>
            <a:off x="502920" y="5157216"/>
            <a:ext cx="11183112" cy="493776"/>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02920" y="5641848"/>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 y="5157216"/>
            <a:ext cx="2048255" cy="493776"/>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71" name="TextBox 70"/>
          <p:cNvSpPr txBox="1"/>
          <p:nvPr/>
        </p:nvSpPr>
        <p:spPr>
          <a:xfrm>
            <a:off x="2788920" y="5157216"/>
            <a:ext cx="2139696" cy="493776"/>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172.24.22.19</a:t>
            </a:r>
          </a:p>
        </p:txBody>
      </p:sp>
      <p:sp>
        <p:nvSpPr>
          <p:cNvPr id="72" name="TextBox 71"/>
          <p:cNvSpPr txBox="1"/>
          <p:nvPr/>
        </p:nvSpPr>
        <p:spPr>
          <a:xfrm>
            <a:off x="5074920" y="5157216"/>
            <a:ext cx="2322576"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73" name="TextBox 72"/>
          <p:cNvSpPr txBox="1"/>
          <p:nvPr/>
        </p:nvSpPr>
        <p:spPr>
          <a:xfrm>
            <a:off x="7543800" y="5157216"/>
            <a:ext cx="1956815"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74" name="TextBox 73"/>
          <p:cNvSpPr txBox="1"/>
          <p:nvPr/>
        </p:nvSpPr>
        <p:spPr>
          <a:xfrm>
            <a:off x="9646919" y="5157216"/>
            <a:ext cx="1984248" cy="493776"/>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ACCOUNTS</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X of X compromised users discovered</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05  /  10</a:t>
            </a:r>
          </a:p>
        </p:txBody>
      </p:sp>
      <p:sp>
        <p:nvSpPr>
          <p:cNvPr id="8" name="TextBox 7"/>
          <p:cNvSpPr txBox="1"/>
          <p:nvPr/>
        </p:nvSpPr>
        <p:spPr>
          <a:xfrm>
            <a:off x="502920" y="1024128"/>
            <a:ext cx="10972800" cy="256032"/>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Count an account if you created it, gave it a login, or changed what it could do.</a:t>
            </a:r>
          </a:p>
        </p:txBody>
      </p:sp>
      <p:sp>
        <p:nvSpPr>
          <p:cNvPr id="9" name="Rectangle 8"/>
          <p:cNvSpPr/>
          <p:nvPr/>
        </p:nvSpPr>
        <p:spPr>
          <a:xfrm>
            <a:off x="502920" y="1417320"/>
            <a:ext cx="20116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17320"/>
            <a:ext cx="18653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ACCOUNT</a:t>
            </a:r>
          </a:p>
        </p:txBody>
      </p:sp>
      <p:sp>
        <p:nvSpPr>
          <p:cNvPr id="11" name="Rectangle 10"/>
          <p:cNvSpPr/>
          <p:nvPr/>
        </p:nvSpPr>
        <p:spPr>
          <a:xfrm>
            <a:off x="2514600" y="1417320"/>
            <a:ext cx="24688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06040" y="1417320"/>
            <a:ext cx="23225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HOST</a:t>
            </a:r>
          </a:p>
        </p:txBody>
      </p:sp>
      <p:sp>
        <p:nvSpPr>
          <p:cNvPr id="13" name="Rectangle 12"/>
          <p:cNvSpPr/>
          <p:nvPr/>
        </p:nvSpPr>
        <p:spPr>
          <a:xfrm>
            <a:off x="4983480" y="1417320"/>
            <a:ext cx="20116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74920" y="1417320"/>
            <a:ext cx="18653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ACCESS</a:t>
            </a:r>
          </a:p>
        </p:txBody>
      </p:sp>
      <p:sp>
        <p:nvSpPr>
          <p:cNvPr id="15" name="Rectangle 14"/>
          <p:cNvSpPr/>
          <p:nvPr/>
        </p:nvSpPr>
        <p:spPr>
          <a:xfrm>
            <a:off x="6995160" y="1417320"/>
            <a:ext cx="286207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417320"/>
            <a:ext cx="2715768"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HOW IT HID</a:t>
            </a:r>
          </a:p>
        </p:txBody>
      </p:sp>
      <p:sp>
        <p:nvSpPr>
          <p:cNvPr id="17" name="Rectangle 16"/>
          <p:cNvSpPr/>
          <p:nvPr/>
        </p:nvSpPr>
        <p:spPr>
          <a:xfrm>
            <a:off x="9857232" y="1417320"/>
            <a:ext cx="182880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48672" y="1417320"/>
            <a:ext cx="168249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FOUND</a:t>
            </a:r>
          </a:p>
        </p:txBody>
      </p:sp>
      <p:sp>
        <p:nvSpPr>
          <p:cNvPr id="19" name="Rectangle 18"/>
          <p:cNvSpPr/>
          <p:nvPr/>
        </p:nvSpPr>
        <p:spPr>
          <a:xfrm>
            <a:off x="502920" y="1746504"/>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26771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746504"/>
            <a:ext cx="1865376" cy="530352"/>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defender</a:t>
            </a:r>
          </a:p>
        </p:txBody>
      </p:sp>
      <p:sp>
        <p:nvSpPr>
          <p:cNvPr id="22" name="TextBox 21"/>
          <p:cNvSpPr txBox="1"/>
          <p:nvPr/>
        </p:nvSpPr>
        <p:spPr>
          <a:xfrm>
            <a:off x="2606040" y="1746504"/>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3" name="TextBox 22"/>
          <p:cNvSpPr txBox="1"/>
          <p:nvPr/>
        </p:nvSpPr>
        <p:spPr>
          <a:xfrm>
            <a:off x="5074920" y="1746504"/>
            <a:ext cx="1865376"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Student</a:t>
            </a:r>
          </a:p>
        </p:txBody>
      </p:sp>
      <p:sp>
        <p:nvSpPr>
          <p:cNvPr id="24" name="TextBox 23"/>
          <p:cNvSpPr txBox="1"/>
          <p:nvPr/>
        </p:nvSpPr>
        <p:spPr>
          <a:xfrm>
            <a:off x="7086600" y="1746504"/>
            <a:ext cx="2715768"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Shell swapped</a:t>
            </a:r>
          </a:p>
        </p:txBody>
      </p:sp>
      <p:sp>
        <p:nvSpPr>
          <p:cNvPr id="25" name="TextBox 24"/>
          <p:cNvSpPr txBox="1"/>
          <p:nvPr/>
        </p:nvSpPr>
        <p:spPr>
          <a:xfrm>
            <a:off x="9948672" y="1746504"/>
            <a:ext cx="168249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6" name="Rectangle 25"/>
          <p:cNvSpPr/>
          <p:nvPr/>
        </p:nvSpPr>
        <p:spPr>
          <a:xfrm>
            <a:off x="502920" y="2276856"/>
            <a:ext cx="11183112" cy="530352"/>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279806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276856"/>
            <a:ext cx="1865376" cy="530352"/>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mail</a:t>
            </a:r>
          </a:p>
        </p:txBody>
      </p:sp>
      <p:sp>
        <p:nvSpPr>
          <p:cNvPr id="29" name="TextBox 28"/>
          <p:cNvSpPr txBox="1"/>
          <p:nvPr/>
        </p:nvSpPr>
        <p:spPr>
          <a:xfrm>
            <a:off x="2606040" y="2276856"/>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0" name="TextBox 29"/>
          <p:cNvSpPr txBox="1"/>
          <p:nvPr/>
        </p:nvSpPr>
        <p:spPr>
          <a:xfrm>
            <a:off x="5074920" y="2276856"/>
            <a:ext cx="1865376"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sudo</a:t>
            </a:r>
          </a:p>
        </p:txBody>
      </p:sp>
      <p:sp>
        <p:nvSpPr>
          <p:cNvPr id="31" name="TextBox 30"/>
          <p:cNvSpPr txBox="1"/>
          <p:nvPr/>
        </p:nvSpPr>
        <p:spPr>
          <a:xfrm>
            <a:off x="7086600" y="2276856"/>
            <a:ext cx="2715768"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Looks like a service</a:t>
            </a:r>
          </a:p>
        </p:txBody>
      </p:sp>
      <p:sp>
        <p:nvSpPr>
          <p:cNvPr id="32" name="TextBox 31"/>
          <p:cNvSpPr txBox="1"/>
          <p:nvPr/>
        </p:nvSpPr>
        <p:spPr>
          <a:xfrm>
            <a:off x="9948672" y="2276856"/>
            <a:ext cx="168249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3" name="Rectangle 32"/>
          <p:cNvSpPr/>
          <p:nvPr/>
        </p:nvSpPr>
        <p:spPr>
          <a:xfrm>
            <a:off x="502920" y="2807208"/>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32841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2807208"/>
            <a:ext cx="1865376" cy="530352"/>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games</a:t>
            </a:r>
          </a:p>
        </p:txBody>
      </p:sp>
      <p:sp>
        <p:nvSpPr>
          <p:cNvPr id="36" name="TextBox 35"/>
          <p:cNvSpPr txBox="1"/>
          <p:nvPr/>
        </p:nvSpPr>
        <p:spPr>
          <a:xfrm>
            <a:off x="2606040" y="2807208"/>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7" name="TextBox 36"/>
          <p:cNvSpPr txBox="1"/>
          <p:nvPr/>
        </p:nvSpPr>
        <p:spPr>
          <a:xfrm>
            <a:off x="5074920" y="2807208"/>
            <a:ext cx="1865376"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sudo</a:t>
            </a:r>
          </a:p>
        </p:txBody>
      </p:sp>
      <p:sp>
        <p:nvSpPr>
          <p:cNvPr id="38" name="TextBox 37"/>
          <p:cNvSpPr txBox="1"/>
          <p:nvPr/>
        </p:nvSpPr>
        <p:spPr>
          <a:xfrm>
            <a:off x="7086600" y="2807208"/>
            <a:ext cx="2715768"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Looks like a service</a:t>
            </a:r>
          </a:p>
        </p:txBody>
      </p:sp>
      <p:sp>
        <p:nvSpPr>
          <p:cNvPr id="39" name="TextBox 38"/>
          <p:cNvSpPr txBox="1"/>
          <p:nvPr/>
        </p:nvSpPr>
        <p:spPr>
          <a:xfrm>
            <a:off x="9948672" y="2807208"/>
            <a:ext cx="168249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0" name="Rectangle 39"/>
          <p:cNvSpPr/>
          <p:nvPr/>
        </p:nvSpPr>
        <p:spPr>
          <a:xfrm>
            <a:off x="502920" y="3337560"/>
            <a:ext cx="11183112" cy="530352"/>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3858768"/>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337560"/>
            <a:ext cx="1865376" cy="530352"/>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news</a:t>
            </a:r>
          </a:p>
        </p:txBody>
      </p:sp>
      <p:sp>
        <p:nvSpPr>
          <p:cNvPr id="43" name="TextBox 42"/>
          <p:cNvSpPr txBox="1"/>
          <p:nvPr/>
        </p:nvSpPr>
        <p:spPr>
          <a:xfrm>
            <a:off x="2606040" y="3337560"/>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4" name="TextBox 43"/>
          <p:cNvSpPr txBox="1"/>
          <p:nvPr/>
        </p:nvSpPr>
        <p:spPr>
          <a:xfrm>
            <a:off x="5074920" y="3337560"/>
            <a:ext cx="1865376"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sudo</a:t>
            </a:r>
          </a:p>
        </p:txBody>
      </p:sp>
      <p:sp>
        <p:nvSpPr>
          <p:cNvPr id="45" name="TextBox 44"/>
          <p:cNvSpPr txBox="1"/>
          <p:nvPr/>
        </p:nvSpPr>
        <p:spPr>
          <a:xfrm>
            <a:off x="7086600" y="3337560"/>
            <a:ext cx="2715768"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Looks like a service</a:t>
            </a:r>
          </a:p>
        </p:txBody>
      </p:sp>
      <p:sp>
        <p:nvSpPr>
          <p:cNvPr id="46" name="TextBox 45"/>
          <p:cNvSpPr txBox="1"/>
          <p:nvPr/>
        </p:nvSpPr>
        <p:spPr>
          <a:xfrm>
            <a:off x="9948672" y="3337560"/>
            <a:ext cx="168249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3867912"/>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389120"/>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867912"/>
            <a:ext cx="1865376" cy="530352"/>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backup</a:t>
            </a:r>
          </a:p>
        </p:txBody>
      </p:sp>
      <p:sp>
        <p:nvSpPr>
          <p:cNvPr id="50" name="TextBox 49"/>
          <p:cNvSpPr txBox="1"/>
          <p:nvPr/>
        </p:nvSpPr>
        <p:spPr>
          <a:xfrm>
            <a:off x="2606040" y="3867912"/>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1" name="TextBox 50"/>
          <p:cNvSpPr txBox="1"/>
          <p:nvPr/>
        </p:nvSpPr>
        <p:spPr>
          <a:xfrm>
            <a:off x="5074920" y="3867912"/>
            <a:ext cx="1865376"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sudo</a:t>
            </a:r>
          </a:p>
        </p:txBody>
      </p:sp>
      <p:sp>
        <p:nvSpPr>
          <p:cNvPr id="52" name="TextBox 51"/>
          <p:cNvSpPr txBox="1"/>
          <p:nvPr/>
        </p:nvSpPr>
        <p:spPr>
          <a:xfrm>
            <a:off x="7086600" y="3867912"/>
            <a:ext cx="2715768"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Looks like a service</a:t>
            </a:r>
          </a:p>
        </p:txBody>
      </p:sp>
      <p:sp>
        <p:nvSpPr>
          <p:cNvPr id="53" name="TextBox 52"/>
          <p:cNvSpPr txBox="1"/>
          <p:nvPr/>
        </p:nvSpPr>
        <p:spPr>
          <a:xfrm>
            <a:off x="9948672" y="3867912"/>
            <a:ext cx="168249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4" name="Rectangle 53"/>
          <p:cNvSpPr/>
          <p:nvPr/>
        </p:nvSpPr>
        <p:spPr>
          <a:xfrm>
            <a:off x="502920" y="4654296"/>
            <a:ext cx="11183112" cy="10515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782312"/>
            <a:ext cx="5486400" cy="201168"/>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WHAT COUNTS</a:t>
            </a:r>
          </a:p>
        </p:txBody>
      </p:sp>
      <p:sp>
        <p:nvSpPr>
          <p:cNvPr id="56" name="TextBox 55"/>
          <p:cNvSpPr txBox="1"/>
          <p:nvPr/>
        </p:nvSpPr>
        <p:spPr>
          <a:xfrm>
            <a:off x="731520" y="5056632"/>
            <a:ext cx="10607040" cy="411480"/>
          </a:xfrm>
          <a:prstGeom prst="rect">
            <a:avLst/>
          </a:prstGeom>
          <a:noFill/>
        </p:spPr>
        <p:txBody>
          <a:bodyPr wrap="square" lIns="0" rIns="0" tIns="0" bIns="0" anchor="t"/>
          <a:lstStyle/>
          <a:p>
            <a:pPr algn="l">
              <a:spcBef>
                <a:spcPts val="0"/>
              </a:spcBef>
              <a:spcAft>
                <a:spcPts val="0"/>
              </a:spcAft>
            </a:pPr>
            <a:r>
              <a:rPr sz="1500" b="0">
                <a:solidFill>
                  <a:srgbClr val="FFFFFF"/>
                </a:solidFill>
                <a:latin typeface="Calibri"/>
                <a:ea typeface="Calibri"/>
                <a:cs typeface="Calibri"/>
              </a:rPr>
              <a:t>A login shell you changed counts. A service account you put in sudo counts. Strike any name you did not touch.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AT THE END</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X of X connections still alive</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06  /  10</a:t>
            </a:r>
          </a:p>
        </p:txBody>
      </p:sp>
      <p:sp>
        <p:nvSpPr>
          <p:cNvPr id="8" name="TextBox 7"/>
          <p:cNvSpPr txBox="1"/>
          <p:nvPr/>
        </p:nvSpPr>
        <p:spPr>
          <a:xfrm>
            <a:off x="502920" y="1024128"/>
            <a:ext cx="10972800" cy="256032"/>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A connection is alive if you could still use it when they said they were finished.</a:t>
            </a:r>
          </a:p>
        </p:txBody>
      </p:sp>
      <p:sp>
        <p:nvSpPr>
          <p:cNvPr id="9" name="Rectangle 8"/>
          <p:cNvSpPr/>
          <p:nvPr/>
        </p:nvSpPr>
        <p:spPr>
          <a:xfrm>
            <a:off x="502920" y="1417320"/>
            <a:ext cx="24688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17320"/>
            <a:ext cx="23225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FROM</a:t>
            </a:r>
          </a:p>
        </p:txBody>
      </p:sp>
      <p:sp>
        <p:nvSpPr>
          <p:cNvPr id="11" name="Rectangle 10"/>
          <p:cNvSpPr/>
          <p:nvPr/>
        </p:nvSpPr>
        <p:spPr>
          <a:xfrm>
            <a:off x="2971800" y="1417320"/>
            <a:ext cx="24688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1417320"/>
            <a:ext cx="23225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TO</a:t>
            </a:r>
          </a:p>
        </p:txBody>
      </p:sp>
      <p:sp>
        <p:nvSpPr>
          <p:cNvPr id="13" name="Rectangle 12"/>
          <p:cNvSpPr/>
          <p:nvPr/>
        </p:nvSpPr>
        <p:spPr>
          <a:xfrm>
            <a:off x="5440680" y="1417320"/>
            <a:ext cx="219456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32120" y="1417320"/>
            <a:ext cx="204825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KIND</a:t>
            </a:r>
          </a:p>
        </p:txBody>
      </p:sp>
      <p:sp>
        <p:nvSpPr>
          <p:cNvPr id="15" name="Rectangle 14"/>
          <p:cNvSpPr/>
          <p:nvPr/>
        </p:nvSpPr>
        <p:spPr>
          <a:xfrm>
            <a:off x="7635240" y="1417320"/>
            <a:ext cx="173736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1417320"/>
            <a:ext cx="159105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PORT</a:t>
            </a:r>
          </a:p>
        </p:txBody>
      </p:sp>
      <p:sp>
        <p:nvSpPr>
          <p:cNvPr id="17" name="Rectangle 16"/>
          <p:cNvSpPr/>
          <p:nvPr/>
        </p:nvSpPr>
        <p:spPr>
          <a:xfrm>
            <a:off x="9372600" y="1417320"/>
            <a:ext cx="231343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4040" y="1417320"/>
            <a:ext cx="2167127"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ALIVE</a:t>
            </a:r>
          </a:p>
        </p:txBody>
      </p:sp>
      <p:sp>
        <p:nvSpPr>
          <p:cNvPr id="19" name="Rectangle 18"/>
          <p:cNvSpPr/>
          <p:nvPr/>
        </p:nvSpPr>
        <p:spPr>
          <a:xfrm>
            <a:off x="502920" y="1746504"/>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226771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746504"/>
            <a:ext cx="2322576" cy="530352"/>
          </a:xfrm>
          <a:prstGeom prst="rect">
            <a:avLst/>
          </a:prstGeom>
          <a:noFill/>
        </p:spPr>
        <p:txBody>
          <a:bodyPr wrap="square" lIns="0" rIns="0" tIns="0" bIns="0" anchor="ctr"/>
          <a:lstStyle/>
          <a:p>
            <a:pPr algn="l">
              <a:spcBef>
                <a:spcPts val="0"/>
              </a:spcBef>
              <a:spcAft>
                <a:spcPts val="0"/>
              </a:spcAft>
            </a:pPr>
            <a:r>
              <a:rPr sz="1200" b="1">
                <a:solidFill>
                  <a:srgbClr val="5C6B7A"/>
                </a:solidFill>
                <a:latin typeface="Calibri"/>
                <a:ea typeface="Calibri"/>
                <a:cs typeface="Calibri"/>
              </a:rPr>
              <a:t>—</a:t>
            </a:r>
          </a:p>
        </p:txBody>
      </p:sp>
      <p:sp>
        <p:nvSpPr>
          <p:cNvPr id="22" name="TextBox 21"/>
          <p:cNvSpPr txBox="1"/>
          <p:nvPr/>
        </p:nvSpPr>
        <p:spPr>
          <a:xfrm>
            <a:off x="3063240" y="1746504"/>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3" name="TextBox 22"/>
          <p:cNvSpPr txBox="1"/>
          <p:nvPr/>
        </p:nvSpPr>
        <p:spPr>
          <a:xfrm>
            <a:off x="5532120" y="1746504"/>
            <a:ext cx="2048255"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Callback</a:t>
            </a:r>
          </a:p>
        </p:txBody>
      </p:sp>
      <p:sp>
        <p:nvSpPr>
          <p:cNvPr id="24" name="TextBox 23"/>
          <p:cNvSpPr txBox="1"/>
          <p:nvPr/>
        </p:nvSpPr>
        <p:spPr>
          <a:xfrm>
            <a:off x="7726679" y="1746504"/>
            <a:ext cx="159105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5" name="TextBox 24"/>
          <p:cNvSpPr txBox="1"/>
          <p:nvPr/>
        </p:nvSpPr>
        <p:spPr>
          <a:xfrm>
            <a:off x="9464040" y="1746504"/>
            <a:ext cx="2167127"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6" name="Rectangle 25"/>
          <p:cNvSpPr/>
          <p:nvPr/>
        </p:nvSpPr>
        <p:spPr>
          <a:xfrm>
            <a:off x="502920" y="2276856"/>
            <a:ext cx="11183112" cy="530352"/>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279806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276856"/>
            <a:ext cx="2322576" cy="530352"/>
          </a:xfrm>
          <a:prstGeom prst="rect">
            <a:avLst/>
          </a:prstGeom>
          <a:noFill/>
        </p:spPr>
        <p:txBody>
          <a:bodyPr wrap="square" lIns="0" rIns="0" tIns="0" bIns="0" anchor="ctr"/>
          <a:lstStyle/>
          <a:p>
            <a:pPr algn="l">
              <a:spcBef>
                <a:spcPts val="0"/>
              </a:spcBef>
              <a:spcAft>
                <a:spcPts val="0"/>
              </a:spcAft>
            </a:pPr>
            <a:r>
              <a:rPr sz="1200" b="1">
                <a:solidFill>
                  <a:srgbClr val="5C6B7A"/>
                </a:solidFill>
                <a:latin typeface="Calibri"/>
                <a:ea typeface="Calibri"/>
                <a:cs typeface="Calibri"/>
              </a:rPr>
              <a:t>—</a:t>
            </a:r>
          </a:p>
        </p:txBody>
      </p:sp>
      <p:sp>
        <p:nvSpPr>
          <p:cNvPr id="29" name="TextBox 28"/>
          <p:cNvSpPr txBox="1"/>
          <p:nvPr/>
        </p:nvSpPr>
        <p:spPr>
          <a:xfrm>
            <a:off x="3063240" y="2276856"/>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0" name="TextBox 29"/>
          <p:cNvSpPr txBox="1"/>
          <p:nvPr/>
        </p:nvSpPr>
        <p:spPr>
          <a:xfrm>
            <a:off x="5532120" y="2276856"/>
            <a:ext cx="2048255"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Callback</a:t>
            </a:r>
          </a:p>
        </p:txBody>
      </p:sp>
      <p:sp>
        <p:nvSpPr>
          <p:cNvPr id="31" name="TextBox 30"/>
          <p:cNvSpPr txBox="1"/>
          <p:nvPr/>
        </p:nvSpPr>
        <p:spPr>
          <a:xfrm>
            <a:off x="7726679" y="2276856"/>
            <a:ext cx="159105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2" name="TextBox 31"/>
          <p:cNvSpPr txBox="1"/>
          <p:nvPr/>
        </p:nvSpPr>
        <p:spPr>
          <a:xfrm>
            <a:off x="9464040" y="2276856"/>
            <a:ext cx="2167127"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3" name="Rectangle 32"/>
          <p:cNvSpPr/>
          <p:nvPr/>
        </p:nvSpPr>
        <p:spPr>
          <a:xfrm>
            <a:off x="502920" y="2807208"/>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332841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2807208"/>
            <a:ext cx="2322576" cy="530352"/>
          </a:xfrm>
          <a:prstGeom prst="rect">
            <a:avLst/>
          </a:prstGeom>
          <a:noFill/>
        </p:spPr>
        <p:txBody>
          <a:bodyPr wrap="square" lIns="0" rIns="0" tIns="0" bIns="0" anchor="ctr"/>
          <a:lstStyle/>
          <a:p>
            <a:pPr algn="l">
              <a:spcBef>
                <a:spcPts val="0"/>
              </a:spcBef>
              <a:spcAft>
                <a:spcPts val="0"/>
              </a:spcAft>
            </a:pPr>
            <a:r>
              <a:rPr sz="1200" b="1">
                <a:solidFill>
                  <a:srgbClr val="5C6B7A"/>
                </a:solidFill>
                <a:latin typeface="Calibri"/>
                <a:ea typeface="Calibri"/>
                <a:cs typeface="Calibri"/>
              </a:rPr>
              <a:t>—</a:t>
            </a:r>
          </a:p>
        </p:txBody>
      </p:sp>
      <p:sp>
        <p:nvSpPr>
          <p:cNvPr id="36" name="TextBox 35"/>
          <p:cNvSpPr txBox="1"/>
          <p:nvPr/>
        </p:nvSpPr>
        <p:spPr>
          <a:xfrm>
            <a:off x="3063240" y="2807208"/>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7" name="TextBox 36"/>
          <p:cNvSpPr txBox="1"/>
          <p:nvPr/>
        </p:nvSpPr>
        <p:spPr>
          <a:xfrm>
            <a:off x="5532120" y="2807208"/>
            <a:ext cx="2048255"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Shell</a:t>
            </a:r>
          </a:p>
        </p:txBody>
      </p:sp>
      <p:sp>
        <p:nvSpPr>
          <p:cNvPr id="38" name="TextBox 37"/>
          <p:cNvSpPr txBox="1"/>
          <p:nvPr/>
        </p:nvSpPr>
        <p:spPr>
          <a:xfrm>
            <a:off x="7726679" y="2807208"/>
            <a:ext cx="159105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9" name="TextBox 38"/>
          <p:cNvSpPr txBox="1"/>
          <p:nvPr/>
        </p:nvSpPr>
        <p:spPr>
          <a:xfrm>
            <a:off x="9464040" y="2807208"/>
            <a:ext cx="2167127"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0" name="Rectangle 39"/>
          <p:cNvSpPr/>
          <p:nvPr/>
        </p:nvSpPr>
        <p:spPr>
          <a:xfrm>
            <a:off x="502920" y="3337560"/>
            <a:ext cx="11183112" cy="530352"/>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3858768"/>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337560"/>
            <a:ext cx="2322576" cy="530352"/>
          </a:xfrm>
          <a:prstGeom prst="rect">
            <a:avLst/>
          </a:prstGeom>
          <a:noFill/>
        </p:spPr>
        <p:txBody>
          <a:bodyPr wrap="square" lIns="0" rIns="0" tIns="0" bIns="0" anchor="ctr"/>
          <a:lstStyle/>
          <a:p>
            <a:pPr algn="l">
              <a:spcBef>
                <a:spcPts val="0"/>
              </a:spcBef>
              <a:spcAft>
                <a:spcPts val="0"/>
              </a:spcAft>
            </a:pPr>
            <a:r>
              <a:rPr sz="1200" b="1">
                <a:solidFill>
                  <a:srgbClr val="5C6B7A"/>
                </a:solidFill>
                <a:latin typeface="Calibri"/>
                <a:ea typeface="Calibri"/>
                <a:cs typeface="Calibri"/>
              </a:rPr>
              <a:t>—</a:t>
            </a:r>
          </a:p>
        </p:txBody>
      </p:sp>
      <p:sp>
        <p:nvSpPr>
          <p:cNvPr id="43" name="TextBox 42"/>
          <p:cNvSpPr txBox="1"/>
          <p:nvPr/>
        </p:nvSpPr>
        <p:spPr>
          <a:xfrm>
            <a:off x="3063240" y="3337560"/>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4" name="TextBox 43"/>
          <p:cNvSpPr txBox="1"/>
          <p:nvPr/>
        </p:nvSpPr>
        <p:spPr>
          <a:xfrm>
            <a:off x="5532120" y="3337560"/>
            <a:ext cx="2048255"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SSH</a:t>
            </a:r>
          </a:p>
        </p:txBody>
      </p:sp>
      <p:sp>
        <p:nvSpPr>
          <p:cNvPr id="45" name="TextBox 44"/>
          <p:cNvSpPr txBox="1"/>
          <p:nvPr/>
        </p:nvSpPr>
        <p:spPr>
          <a:xfrm>
            <a:off x="7726679" y="3337560"/>
            <a:ext cx="159105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6" name="TextBox 45"/>
          <p:cNvSpPr txBox="1"/>
          <p:nvPr/>
        </p:nvSpPr>
        <p:spPr>
          <a:xfrm>
            <a:off x="9464040" y="3337560"/>
            <a:ext cx="2167127"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3867912"/>
            <a:ext cx="11183112"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389120"/>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867912"/>
            <a:ext cx="2322576" cy="530352"/>
          </a:xfrm>
          <a:prstGeom prst="rect">
            <a:avLst/>
          </a:prstGeom>
          <a:noFill/>
        </p:spPr>
        <p:txBody>
          <a:bodyPr wrap="square" lIns="0" rIns="0" tIns="0" bIns="0" anchor="ctr"/>
          <a:lstStyle/>
          <a:p>
            <a:pPr algn="l">
              <a:spcBef>
                <a:spcPts val="0"/>
              </a:spcBef>
              <a:spcAft>
                <a:spcPts val="0"/>
              </a:spcAft>
            </a:pPr>
            <a:r>
              <a:rPr sz="1200" b="1">
                <a:solidFill>
                  <a:srgbClr val="5C6B7A"/>
                </a:solidFill>
                <a:latin typeface="Calibri"/>
                <a:ea typeface="Calibri"/>
                <a:cs typeface="Calibri"/>
              </a:rPr>
              <a:t>—</a:t>
            </a:r>
          </a:p>
        </p:txBody>
      </p:sp>
      <p:sp>
        <p:nvSpPr>
          <p:cNvPr id="50" name="TextBox 49"/>
          <p:cNvSpPr txBox="1"/>
          <p:nvPr/>
        </p:nvSpPr>
        <p:spPr>
          <a:xfrm>
            <a:off x="3063240" y="3867912"/>
            <a:ext cx="232257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1" name="TextBox 50"/>
          <p:cNvSpPr txBox="1"/>
          <p:nvPr/>
        </p:nvSpPr>
        <p:spPr>
          <a:xfrm>
            <a:off x="5532120" y="3867912"/>
            <a:ext cx="2048255" cy="530352"/>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Other</a:t>
            </a:r>
          </a:p>
        </p:txBody>
      </p:sp>
      <p:sp>
        <p:nvSpPr>
          <p:cNvPr id="52" name="TextBox 51"/>
          <p:cNvSpPr txBox="1"/>
          <p:nvPr/>
        </p:nvSpPr>
        <p:spPr>
          <a:xfrm>
            <a:off x="7726679" y="3867912"/>
            <a:ext cx="1591056"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3" name="TextBox 52"/>
          <p:cNvSpPr txBox="1"/>
          <p:nvPr/>
        </p:nvSpPr>
        <p:spPr>
          <a:xfrm>
            <a:off x="9464040" y="3867912"/>
            <a:ext cx="2167127" cy="530352"/>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4" name="Rectangle 53"/>
          <p:cNvSpPr/>
          <p:nvPr/>
        </p:nvSpPr>
        <p:spPr>
          <a:xfrm>
            <a:off x="502920" y="4654296"/>
            <a:ext cx="11183112" cy="105156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782312"/>
            <a:ext cx="5486400" cy="201168"/>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WHAT COUNTS</a:t>
            </a:r>
          </a:p>
        </p:txBody>
      </p:sp>
      <p:sp>
        <p:nvSpPr>
          <p:cNvPr id="56" name="TextBox 55"/>
          <p:cNvSpPr txBox="1"/>
          <p:nvPr/>
        </p:nvSpPr>
        <p:spPr>
          <a:xfrm>
            <a:off x="731520" y="5056632"/>
            <a:ext cx="10607040" cy="411480"/>
          </a:xfrm>
          <a:prstGeom prst="rect">
            <a:avLst/>
          </a:prstGeom>
          <a:noFill/>
        </p:spPr>
        <p:txBody>
          <a:bodyPr wrap="square" lIns="0" rIns="0" tIns="0" bIns="0" anchor="t"/>
          <a:lstStyle/>
          <a:p>
            <a:pPr algn="l">
              <a:spcBef>
                <a:spcPts val="0"/>
              </a:spcBef>
              <a:spcAft>
                <a:spcPts val="0"/>
              </a:spcAft>
            </a:pPr>
            <a:r>
              <a:rPr sz="1500" b="0">
                <a:solidFill>
                  <a:srgbClr val="FFFFFF"/>
                </a:solidFill>
                <a:latin typeface="Calibri"/>
                <a:ea typeface="Calibri"/>
                <a:cs typeface="Calibri"/>
              </a:rPr>
              <a:t>Count a callback, a shell, and an SSH session you still held. Do not count the jump box. That path is outside their network.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PRIVILEGE</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Sudo or admin on X of X devices</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07  /  10</a:t>
            </a:r>
          </a:p>
        </p:txBody>
      </p:sp>
      <p:sp>
        <p:nvSpPr>
          <p:cNvPr id="8" name="TextBox 7"/>
          <p:cNvSpPr txBox="1"/>
          <p:nvPr/>
        </p:nvSpPr>
        <p:spPr>
          <a:xfrm>
            <a:off x="502920" y="1024128"/>
            <a:ext cx="10972800" cy="256032"/>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Write the access you still had. None, user, sudo, or admin.</a:t>
            </a:r>
          </a:p>
        </p:txBody>
      </p:sp>
      <p:sp>
        <p:nvSpPr>
          <p:cNvPr id="9" name="Rectangle 8"/>
          <p:cNvSpPr/>
          <p:nvPr/>
        </p:nvSpPr>
        <p:spPr>
          <a:xfrm>
            <a:off x="502920" y="1298448"/>
            <a:ext cx="283464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298448"/>
            <a:ext cx="268833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DEVICE</a:t>
            </a:r>
          </a:p>
        </p:txBody>
      </p:sp>
      <p:sp>
        <p:nvSpPr>
          <p:cNvPr id="11" name="Rectangle 10"/>
          <p:cNvSpPr/>
          <p:nvPr/>
        </p:nvSpPr>
        <p:spPr>
          <a:xfrm>
            <a:off x="3337560" y="1298448"/>
            <a:ext cx="274320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298448"/>
            <a:ext cx="259689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IP</a:t>
            </a:r>
          </a:p>
        </p:txBody>
      </p:sp>
      <p:sp>
        <p:nvSpPr>
          <p:cNvPr id="13" name="Rectangle 12"/>
          <p:cNvSpPr/>
          <p:nvPr/>
        </p:nvSpPr>
        <p:spPr>
          <a:xfrm>
            <a:off x="6080760" y="1298448"/>
            <a:ext cx="292608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298448"/>
            <a:ext cx="277977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ACCESS AT THE END</a:t>
            </a:r>
          </a:p>
        </p:txBody>
      </p:sp>
      <p:sp>
        <p:nvSpPr>
          <p:cNvPr id="15" name="Rectangle 14"/>
          <p:cNvSpPr/>
          <p:nvPr/>
        </p:nvSpPr>
        <p:spPr>
          <a:xfrm>
            <a:off x="9006840" y="1298448"/>
            <a:ext cx="267919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298448"/>
            <a:ext cx="2532888"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STILL HELD</a:t>
            </a:r>
          </a:p>
        </p:txBody>
      </p:sp>
      <p:sp>
        <p:nvSpPr>
          <p:cNvPr id="17" name="Rectangle 16"/>
          <p:cNvSpPr/>
          <p:nvPr/>
        </p:nvSpPr>
        <p:spPr>
          <a:xfrm>
            <a:off x="502920" y="1627631"/>
            <a:ext cx="11183112"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03911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27631"/>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LAN router</a:t>
            </a:r>
          </a:p>
        </p:txBody>
      </p:sp>
      <p:sp>
        <p:nvSpPr>
          <p:cNvPr id="20" name="TextBox 19"/>
          <p:cNvSpPr txBox="1"/>
          <p:nvPr/>
        </p:nvSpPr>
        <p:spPr>
          <a:xfrm>
            <a:off x="3429000" y="1627631"/>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172.24.18.1</a:t>
            </a:r>
          </a:p>
        </p:txBody>
      </p:sp>
      <p:sp>
        <p:nvSpPr>
          <p:cNvPr id="21" name="TextBox 20"/>
          <p:cNvSpPr txBox="1"/>
          <p:nvPr/>
        </p:nvSpPr>
        <p:spPr>
          <a:xfrm>
            <a:off x="6172200" y="1627631"/>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2" name="TextBox 21"/>
          <p:cNvSpPr txBox="1"/>
          <p:nvPr/>
        </p:nvSpPr>
        <p:spPr>
          <a:xfrm>
            <a:off x="9098280" y="1627631"/>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3" name="Rectangle 22"/>
          <p:cNvSpPr/>
          <p:nvPr/>
        </p:nvSpPr>
        <p:spPr>
          <a:xfrm>
            <a:off x="502920" y="2048255"/>
            <a:ext cx="11183112" cy="420624"/>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45973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048255"/>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LAN2 router</a:t>
            </a:r>
          </a:p>
        </p:txBody>
      </p:sp>
      <p:sp>
        <p:nvSpPr>
          <p:cNvPr id="26" name="TextBox 25"/>
          <p:cNvSpPr txBox="1"/>
          <p:nvPr/>
        </p:nvSpPr>
        <p:spPr>
          <a:xfrm>
            <a:off x="3429000" y="2048255"/>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172.24.2.4</a:t>
            </a:r>
          </a:p>
        </p:txBody>
      </p:sp>
      <p:sp>
        <p:nvSpPr>
          <p:cNvPr id="27" name="TextBox 26"/>
          <p:cNvSpPr txBox="1"/>
          <p:nvPr/>
        </p:nvSpPr>
        <p:spPr>
          <a:xfrm>
            <a:off x="6172200" y="2048255"/>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8" name="TextBox 27"/>
          <p:cNvSpPr txBox="1"/>
          <p:nvPr/>
        </p:nvSpPr>
        <p:spPr>
          <a:xfrm>
            <a:off x="9098280" y="2048255"/>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9" name="Rectangle 28"/>
          <p:cNvSpPr/>
          <p:nvPr/>
        </p:nvSpPr>
        <p:spPr>
          <a:xfrm>
            <a:off x="502920" y="2468879"/>
            <a:ext cx="11183112"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2880360"/>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468879"/>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Windows 10</a:t>
            </a:r>
          </a:p>
        </p:txBody>
      </p:sp>
      <p:sp>
        <p:nvSpPr>
          <p:cNvPr id="32" name="TextBox 31"/>
          <p:cNvSpPr txBox="1"/>
          <p:nvPr/>
        </p:nvSpPr>
        <p:spPr>
          <a:xfrm>
            <a:off x="3429000" y="2468879"/>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172.24.18.82</a:t>
            </a:r>
          </a:p>
        </p:txBody>
      </p:sp>
      <p:sp>
        <p:nvSpPr>
          <p:cNvPr id="33" name="TextBox 32"/>
          <p:cNvSpPr txBox="1"/>
          <p:nvPr/>
        </p:nvSpPr>
        <p:spPr>
          <a:xfrm>
            <a:off x="6172200" y="2468879"/>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4" name="TextBox 33"/>
          <p:cNvSpPr txBox="1"/>
          <p:nvPr/>
        </p:nvSpPr>
        <p:spPr>
          <a:xfrm>
            <a:off x="9098280" y="2468879"/>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5" name="Rectangle 34"/>
          <p:cNvSpPr/>
          <p:nvPr/>
        </p:nvSpPr>
        <p:spPr>
          <a:xfrm>
            <a:off x="502920" y="2889504"/>
            <a:ext cx="11183112" cy="420624"/>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330098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2889504"/>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38" name="TextBox 37"/>
          <p:cNvSpPr txBox="1"/>
          <p:nvPr/>
        </p:nvSpPr>
        <p:spPr>
          <a:xfrm>
            <a:off x="3429000" y="2889504"/>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172.24.18.68</a:t>
            </a:r>
          </a:p>
        </p:txBody>
      </p:sp>
      <p:sp>
        <p:nvSpPr>
          <p:cNvPr id="39" name="TextBox 38"/>
          <p:cNvSpPr txBox="1"/>
          <p:nvPr/>
        </p:nvSpPr>
        <p:spPr>
          <a:xfrm>
            <a:off x="6172200" y="2889504"/>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0" name="TextBox 39"/>
          <p:cNvSpPr txBox="1"/>
          <p:nvPr/>
        </p:nvSpPr>
        <p:spPr>
          <a:xfrm>
            <a:off x="9098280" y="2889504"/>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1" name="Rectangle 40"/>
          <p:cNvSpPr/>
          <p:nvPr/>
        </p:nvSpPr>
        <p:spPr>
          <a:xfrm>
            <a:off x="502920" y="3310128"/>
            <a:ext cx="11183112"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3721608"/>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310128"/>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44" name="TextBox 43"/>
          <p:cNvSpPr txBox="1"/>
          <p:nvPr/>
        </p:nvSpPr>
        <p:spPr>
          <a:xfrm>
            <a:off x="3429000" y="3310128"/>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172.24.10.150</a:t>
            </a:r>
          </a:p>
        </p:txBody>
      </p:sp>
      <p:sp>
        <p:nvSpPr>
          <p:cNvPr id="45" name="TextBox 44"/>
          <p:cNvSpPr txBox="1"/>
          <p:nvPr/>
        </p:nvSpPr>
        <p:spPr>
          <a:xfrm>
            <a:off x="6172200" y="3310128"/>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6" name="TextBox 45"/>
          <p:cNvSpPr txBox="1"/>
          <p:nvPr/>
        </p:nvSpPr>
        <p:spPr>
          <a:xfrm>
            <a:off x="9098280" y="3310128"/>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3730752"/>
            <a:ext cx="11183112" cy="420624"/>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142232"/>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3730752"/>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9</a:t>
            </a:r>
          </a:p>
        </p:txBody>
      </p:sp>
      <p:sp>
        <p:nvSpPr>
          <p:cNvPr id="50" name="TextBox 49"/>
          <p:cNvSpPr txBox="1"/>
          <p:nvPr/>
        </p:nvSpPr>
        <p:spPr>
          <a:xfrm>
            <a:off x="3429000" y="3730752"/>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172.24.19.44</a:t>
            </a:r>
          </a:p>
        </p:txBody>
      </p:sp>
      <p:sp>
        <p:nvSpPr>
          <p:cNvPr id="51" name="TextBox 50"/>
          <p:cNvSpPr txBox="1"/>
          <p:nvPr/>
        </p:nvSpPr>
        <p:spPr>
          <a:xfrm>
            <a:off x="6172200" y="3730752"/>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2" name="TextBox 51"/>
          <p:cNvSpPr txBox="1"/>
          <p:nvPr/>
        </p:nvSpPr>
        <p:spPr>
          <a:xfrm>
            <a:off x="9098280" y="3730752"/>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3" name="Rectangle 52"/>
          <p:cNvSpPr/>
          <p:nvPr/>
        </p:nvSpPr>
        <p:spPr>
          <a:xfrm>
            <a:off x="502920" y="4151376"/>
            <a:ext cx="11183112"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4562856"/>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4151376"/>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NGINX</a:t>
            </a:r>
          </a:p>
        </p:txBody>
      </p:sp>
      <p:sp>
        <p:nvSpPr>
          <p:cNvPr id="56" name="TextBox 55"/>
          <p:cNvSpPr txBox="1"/>
          <p:nvPr/>
        </p:nvSpPr>
        <p:spPr>
          <a:xfrm>
            <a:off x="3429000" y="4151376"/>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172.24.10.180</a:t>
            </a:r>
          </a:p>
        </p:txBody>
      </p:sp>
      <p:sp>
        <p:nvSpPr>
          <p:cNvPr id="57" name="TextBox 56"/>
          <p:cNvSpPr txBox="1"/>
          <p:nvPr/>
        </p:nvSpPr>
        <p:spPr>
          <a:xfrm>
            <a:off x="6172200" y="4151376"/>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8" name="TextBox 57"/>
          <p:cNvSpPr txBox="1"/>
          <p:nvPr/>
        </p:nvSpPr>
        <p:spPr>
          <a:xfrm>
            <a:off x="9098280" y="4151376"/>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9" name="Rectangle 58"/>
          <p:cNvSpPr/>
          <p:nvPr/>
        </p:nvSpPr>
        <p:spPr>
          <a:xfrm>
            <a:off x="502920" y="4572000"/>
            <a:ext cx="11183112" cy="420624"/>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2920" y="4983480"/>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4572000"/>
            <a:ext cx="2688336" cy="420624"/>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Debian 12</a:t>
            </a:r>
          </a:p>
        </p:txBody>
      </p:sp>
      <p:sp>
        <p:nvSpPr>
          <p:cNvPr id="62" name="TextBox 61"/>
          <p:cNvSpPr txBox="1"/>
          <p:nvPr/>
        </p:nvSpPr>
        <p:spPr>
          <a:xfrm>
            <a:off x="3429000" y="4572000"/>
            <a:ext cx="2596896" cy="420624"/>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172.24.22.19</a:t>
            </a:r>
          </a:p>
        </p:txBody>
      </p:sp>
      <p:sp>
        <p:nvSpPr>
          <p:cNvPr id="63" name="TextBox 62"/>
          <p:cNvSpPr txBox="1"/>
          <p:nvPr/>
        </p:nvSpPr>
        <p:spPr>
          <a:xfrm>
            <a:off x="6172200" y="4572000"/>
            <a:ext cx="2779776"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4" name="TextBox 63"/>
          <p:cNvSpPr txBox="1"/>
          <p:nvPr/>
        </p:nvSpPr>
        <p:spPr>
          <a:xfrm>
            <a:off x="9098280" y="4572000"/>
            <a:ext cx="2532888" cy="420624"/>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5" name="TextBox 64"/>
          <p:cNvSpPr txBox="1"/>
          <p:nvPr/>
        </p:nvSpPr>
        <p:spPr>
          <a:xfrm>
            <a:off x="502920" y="5138928"/>
            <a:ext cx="11155680" cy="274320"/>
          </a:xfrm>
          <a:prstGeom prst="rect">
            <a:avLst/>
          </a:prstGeom>
          <a:noFill/>
        </p:spPr>
        <p:txBody>
          <a:bodyPr wrap="square" lIns="0" rIns="0" tIns="0" bIns="0" anchor="t"/>
          <a:lstStyle/>
          <a:p>
            <a:pPr algn="l">
              <a:spcBef>
                <a:spcPts val="0"/>
              </a:spcBef>
              <a:spcAft>
                <a:spcPts val="0"/>
              </a:spcAft>
            </a:pPr>
            <a:r>
              <a:rPr sz="1300" b="0">
                <a:solidFill>
                  <a:srgbClr val="5C6B7A"/>
                </a:solidFill>
                <a:latin typeface="Calibri"/>
                <a:ea typeface="Calibri"/>
                <a:cs typeface="Calibri"/>
              </a:rPr>
              <a:t>WAN 10.50.160.129 is the path, not a scored host, unless you held it. Router SSH is 20222. Host SSH is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OBSERVATION</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What I could see you doing</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08  /  10</a:t>
            </a:r>
          </a:p>
        </p:txBody>
      </p:sp>
      <p:sp>
        <p:nvSpPr>
          <p:cNvPr id="8" name="Rectangle 7"/>
          <p:cNvSpPr/>
          <p:nvPr/>
        </p:nvSpPr>
        <p:spPr>
          <a:xfrm>
            <a:off x="502920" y="1143000"/>
            <a:ext cx="553212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143000"/>
            <a:ext cx="73152" cy="498348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25880"/>
            <a:ext cx="4937760" cy="320040"/>
          </a:xfrm>
          <a:prstGeom prst="rect">
            <a:avLst/>
          </a:prstGeom>
          <a:noFill/>
        </p:spPr>
        <p:txBody>
          <a:bodyPr wrap="square" lIns="0" rIns="0" tIns="0" bIns="0" anchor="t"/>
          <a:lstStyle/>
          <a:p>
            <a:pPr algn="l">
              <a:spcBef>
                <a:spcPts val="0"/>
              </a:spcBef>
              <a:spcAft>
                <a:spcPts val="0"/>
              </a:spcAft>
            </a:pPr>
            <a:r>
              <a:rPr sz="1300" b="1">
                <a:solidFill>
                  <a:srgbClr val="0F766E"/>
                </a:solidFill>
                <a:latin typeface="Calibri"/>
                <a:ea typeface="Calibri"/>
                <a:cs typeface="Calibri"/>
              </a:rPr>
              <a:t>WHAT THE WATCH SHOWED</a:t>
            </a:r>
          </a:p>
        </p:txBody>
      </p:sp>
      <p:sp>
        <p:nvSpPr>
          <p:cNvPr id="11" name="TextBox 10"/>
          <p:cNvSpPr txBox="1"/>
          <p:nvPr/>
        </p:nvSpPr>
        <p:spPr>
          <a:xfrm>
            <a:off x="822960" y="192024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01</a:t>
            </a:r>
          </a:p>
        </p:txBody>
      </p:sp>
      <p:sp>
        <p:nvSpPr>
          <p:cNvPr id="12" name="TextBox 11"/>
          <p:cNvSpPr txBox="1"/>
          <p:nvPr/>
        </p:nvSpPr>
        <p:spPr>
          <a:xfrm>
            <a:off x="1371600" y="192024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Who was logged in</a:t>
            </a:r>
          </a:p>
        </p:txBody>
      </p:sp>
      <p:sp>
        <p:nvSpPr>
          <p:cNvPr id="13" name="Rectangle 12"/>
          <p:cNvSpPr/>
          <p:nvPr/>
        </p:nvSpPr>
        <p:spPr>
          <a:xfrm>
            <a:off x="1371600" y="230428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036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02</a:t>
            </a:r>
          </a:p>
        </p:txBody>
      </p:sp>
      <p:sp>
        <p:nvSpPr>
          <p:cNvPr id="15" name="TextBox 14"/>
          <p:cNvSpPr txBox="1"/>
          <p:nvPr/>
        </p:nvSpPr>
        <p:spPr>
          <a:xfrm>
            <a:off x="1371600" y="288036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Last lines of their history</a:t>
            </a:r>
          </a:p>
        </p:txBody>
      </p:sp>
      <p:sp>
        <p:nvSpPr>
          <p:cNvPr id="16" name="Rectangle 15"/>
          <p:cNvSpPr/>
          <p:nvPr/>
        </p:nvSpPr>
        <p:spPr>
          <a:xfrm>
            <a:off x="1371600" y="326440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84048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03</a:t>
            </a:r>
          </a:p>
        </p:txBody>
      </p:sp>
      <p:sp>
        <p:nvSpPr>
          <p:cNvPr id="18" name="TextBox 17"/>
          <p:cNvSpPr txBox="1"/>
          <p:nvPr/>
        </p:nvSpPr>
        <p:spPr>
          <a:xfrm>
            <a:off x="1371600" y="384048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Tools they actually ran</a:t>
            </a:r>
          </a:p>
        </p:txBody>
      </p:sp>
      <p:sp>
        <p:nvSpPr>
          <p:cNvPr id="19" name="Rectangle 18"/>
          <p:cNvSpPr/>
          <p:nvPr/>
        </p:nvSpPr>
        <p:spPr>
          <a:xfrm>
            <a:off x="1371600" y="422452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0060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04</a:t>
            </a:r>
          </a:p>
        </p:txBody>
      </p:sp>
      <p:sp>
        <p:nvSpPr>
          <p:cNvPr id="21" name="TextBox 20"/>
          <p:cNvSpPr txBox="1"/>
          <p:nvPr/>
        </p:nvSpPr>
        <p:spPr>
          <a:xfrm>
            <a:off x="1371600" y="480060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Host they would not leave</a:t>
            </a:r>
          </a:p>
        </p:txBody>
      </p:sp>
      <p:sp>
        <p:nvSpPr>
          <p:cNvPr id="22" name="Rectangle 21"/>
          <p:cNvSpPr/>
          <p:nvPr/>
        </p:nvSpPr>
        <p:spPr>
          <a:xfrm>
            <a:off x="1371600" y="518464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1143000"/>
            <a:ext cx="5532120" cy="4983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1143000"/>
            <a:ext cx="73152" cy="4983480"/>
          </a:xfrm>
          <a:prstGeom prst="rect">
            <a:avLst/>
          </a:prstGeom>
          <a:solidFill>
            <a:srgbClr val="9A5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79" y="1325880"/>
            <a:ext cx="4937760" cy="320040"/>
          </a:xfrm>
          <a:prstGeom prst="rect">
            <a:avLst/>
          </a:prstGeom>
          <a:noFill/>
        </p:spPr>
        <p:txBody>
          <a:bodyPr wrap="square" lIns="0" rIns="0" tIns="0" bIns="0" anchor="t"/>
          <a:lstStyle/>
          <a:p>
            <a:pPr algn="l">
              <a:spcBef>
                <a:spcPts val="0"/>
              </a:spcBef>
              <a:spcAft>
                <a:spcPts val="0"/>
              </a:spcAft>
            </a:pPr>
            <a:r>
              <a:rPr sz="1300" b="1">
                <a:solidFill>
                  <a:srgbClr val="9A5B12"/>
                </a:solidFill>
                <a:latin typeface="Calibri"/>
                <a:ea typeface="Calibri"/>
                <a:cs typeface="Calibri"/>
              </a:rPr>
              <a:t>WHAT YOU SAY ABOUT IT</a:t>
            </a:r>
          </a:p>
        </p:txBody>
      </p:sp>
      <p:sp>
        <p:nvSpPr>
          <p:cNvPr id="26" name="TextBox 25"/>
          <p:cNvSpPr txBox="1"/>
          <p:nvPr/>
        </p:nvSpPr>
        <p:spPr>
          <a:xfrm>
            <a:off x="6583679" y="192024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01</a:t>
            </a:r>
          </a:p>
        </p:txBody>
      </p:sp>
      <p:sp>
        <p:nvSpPr>
          <p:cNvPr id="27" name="TextBox 26"/>
          <p:cNvSpPr txBox="1"/>
          <p:nvPr/>
        </p:nvSpPr>
        <p:spPr>
          <a:xfrm>
            <a:off x="7132320" y="192024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Found, or walked past</a:t>
            </a:r>
          </a:p>
        </p:txBody>
      </p:sp>
      <p:sp>
        <p:nvSpPr>
          <p:cNvPr id="28" name="Rectangle 27"/>
          <p:cNvSpPr/>
          <p:nvPr/>
        </p:nvSpPr>
        <p:spPr>
          <a:xfrm>
            <a:off x="7132320" y="230428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79" y="288036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02</a:t>
            </a:r>
          </a:p>
        </p:txBody>
      </p:sp>
      <p:sp>
        <p:nvSpPr>
          <p:cNvPr id="30" name="TextBox 29"/>
          <p:cNvSpPr txBox="1"/>
          <p:nvPr/>
        </p:nvSpPr>
        <p:spPr>
          <a:xfrm>
            <a:off x="7132320" y="288036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Empty log called healthy, or not</a:t>
            </a:r>
          </a:p>
        </p:txBody>
      </p:sp>
      <p:sp>
        <p:nvSpPr>
          <p:cNvPr id="31" name="Rectangle 30"/>
          <p:cNvSpPr/>
          <p:nvPr/>
        </p:nvSpPr>
        <p:spPr>
          <a:xfrm>
            <a:off x="7132320" y="326440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79" y="384048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03</a:t>
            </a:r>
          </a:p>
        </p:txBody>
      </p:sp>
      <p:sp>
        <p:nvSpPr>
          <p:cNvPr id="33" name="TextBox 32"/>
          <p:cNvSpPr txBox="1"/>
          <p:nvPr/>
        </p:nvSpPr>
        <p:spPr>
          <a:xfrm>
            <a:off x="7132320" y="384048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Service account questioned, or not</a:t>
            </a:r>
          </a:p>
        </p:txBody>
      </p:sp>
      <p:sp>
        <p:nvSpPr>
          <p:cNvPr id="34" name="Rectangle 33"/>
          <p:cNvSpPr/>
          <p:nvPr/>
        </p:nvSpPr>
        <p:spPr>
          <a:xfrm>
            <a:off x="7132320" y="422452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79" y="4800600"/>
            <a:ext cx="457200" cy="274320"/>
          </a:xfrm>
          <a:prstGeom prst="rect">
            <a:avLst/>
          </a:prstGeom>
          <a:noFill/>
        </p:spPr>
        <p:txBody>
          <a:bodyPr wrap="square" lIns="0" rIns="0" tIns="0" bIns="0" anchor="t"/>
          <a:lstStyle/>
          <a:p>
            <a:pPr algn="l">
              <a:spcBef>
                <a:spcPts val="0"/>
              </a:spcBef>
              <a:spcAft>
                <a:spcPts val="0"/>
              </a:spcAft>
            </a:pPr>
            <a:r>
              <a:rPr sz="1400" b="1">
                <a:solidFill>
                  <a:srgbClr val="0B1F33"/>
                </a:solidFill>
                <a:latin typeface="Calibri"/>
                <a:ea typeface="Calibri"/>
                <a:cs typeface="Calibri"/>
              </a:rPr>
              <a:t>04</a:t>
            </a:r>
          </a:p>
        </p:txBody>
      </p:sp>
      <p:sp>
        <p:nvSpPr>
          <p:cNvPr id="36" name="TextBox 35"/>
          <p:cNvSpPr txBox="1"/>
          <p:nvPr/>
        </p:nvSpPr>
        <p:spPr>
          <a:xfrm>
            <a:off x="7132320" y="4800600"/>
            <a:ext cx="4297680" cy="274320"/>
          </a:xfrm>
          <a:prstGeom prst="rect">
            <a:avLst/>
          </a:prstGeom>
          <a:noFill/>
        </p:spPr>
        <p:txBody>
          <a:bodyPr wrap="square" lIns="0" rIns="0" tIns="0" bIns="0" anchor="t"/>
          <a:lstStyle/>
          <a:p>
            <a:pPr algn="l">
              <a:spcBef>
                <a:spcPts val="0"/>
              </a:spcBef>
              <a:spcAft>
                <a:spcPts val="0"/>
              </a:spcAft>
            </a:pPr>
            <a:r>
              <a:rPr sz="1600" b="1">
                <a:solidFill>
                  <a:srgbClr val="14202B"/>
                </a:solidFill>
                <a:latin typeface="Calibri"/>
                <a:ea typeface="Calibri"/>
                <a:cs typeface="Calibri"/>
              </a:rPr>
              <a:t>Login shell checked, or not</a:t>
            </a:r>
          </a:p>
        </p:txBody>
      </p:sp>
      <p:sp>
        <p:nvSpPr>
          <p:cNvPr id="37" name="Rectangle 36"/>
          <p:cNvSpPr/>
          <p:nvPr/>
        </p:nvSpPr>
        <p:spPr>
          <a:xfrm>
            <a:off x="7132320" y="5184648"/>
            <a:ext cx="4206240" cy="10972"/>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9144000" cy="219456"/>
          </a:xfrm>
          <a:prstGeom prst="rect">
            <a:avLst/>
          </a:prstGeom>
          <a:noFill/>
        </p:spPr>
        <p:txBody>
          <a:bodyPr wrap="square" lIns="0" rIns="0" tIns="0" bIns="0" anchor="t"/>
          <a:lstStyle/>
          <a:p>
            <a:pPr algn="l">
              <a:spcBef>
                <a:spcPts val="0"/>
              </a:spcBef>
              <a:spcAft>
                <a:spcPts val="0"/>
              </a:spcAft>
            </a:pPr>
            <a:r>
              <a:rPr sz="1100" b="1">
                <a:solidFill>
                  <a:srgbClr val="0F766E"/>
                </a:solidFill>
                <a:latin typeface="Calibri"/>
                <a:ea typeface="Calibri"/>
                <a:cs typeface="Calibri"/>
              </a:rPr>
              <a:t>AFTER REMEDIATION</a:t>
            </a:r>
          </a:p>
        </p:txBody>
      </p:sp>
      <p:sp>
        <p:nvSpPr>
          <p:cNvPr id="5" name="TextBox 4"/>
          <p:cNvSpPr txBox="1"/>
          <p:nvPr/>
        </p:nvSpPr>
        <p:spPr>
          <a:xfrm>
            <a:off x="502920" y="475488"/>
            <a:ext cx="10424160" cy="420624"/>
          </a:xfrm>
          <a:prstGeom prst="rect">
            <a:avLst/>
          </a:prstGeom>
          <a:noFill/>
        </p:spPr>
        <p:txBody>
          <a:bodyPr wrap="square" lIns="0" rIns="0" tIns="0" bIns="0" anchor="t"/>
          <a:lstStyle/>
          <a:p>
            <a:pPr algn="l">
              <a:spcBef>
                <a:spcPts val="0"/>
              </a:spcBef>
              <a:spcAft>
                <a:spcPts val="0"/>
              </a:spcAft>
            </a:pPr>
            <a:r>
              <a:rPr sz="2800" b="1">
                <a:solidFill>
                  <a:srgbClr val="0B1F33"/>
                </a:solidFill>
                <a:latin typeface="Calibri"/>
                <a:ea typeface="Calibri"/>
                <a:cs typeface="Calibri"/>
              </a:rPr>
              <a:t>What was still mine</a:t>
            </a:r>
          </a:p>
        </p:txBody>
      </p:sp>
      <p:sp>
        <p:nvSpPr>
          <p:cNvPr id="6" name="TextBox 5"/>
          <p:cNvSpPr txBox="1"/>
          <p:nvPr/>
        </p:nvSpPr>
        <p:spPr>
          <a:xfrm>
            <a:off x="502920" y="6510528"/>
            <a:ext cx="6400800" cy="219456"/>
          </a:xfrm>
          <a:prstGeom prst="rect">
            <a:avLst/>
          </a:prstGeom>
          <a:noFill/>
        </p:spPr>
        <p:txBody>
          <a:bodyPr wrap="square" lIns="0" rIns="0" tIns="0" bIns="0" anchor="ctr"/>
          <a:lstStyle/>
          <a:p>
            <a:pPr algn="l">
              <a:spcBef>
                <a:spcPts val="0"/>
              </a:spcBef>
              <a:spcAft>
                <a:spcPts val="0"/>
              </a:spcAft>
            </a:pPr>
            <a:r>
              <a:rPr sz="1100" b="0">
                <a:solidFill>
                  <a:srgbClr val="5C6B7A"/>
                </a:solidFill>
                <a:latin typeface="Calibri"/>
                <a:ea typeface="Calibri"/>
                <a:cs typeface="Calibri"/>
              </a:rPr>
              <a:t>DCO   ·   Attacker Debrief</a:t>
            </a:r>
          </a:p>
        </p:txBody>
      </p:sp>
      <p:sp>
        <p:nvSpPr>
          <p:cNvPr id="7" name="TextBox 6"/>
          <p:cNvSpPr txBox="1"/>
          <p:nvPr/>
        </p:nvSpPr>
        <p:spPr>
          <a:xfrm>
            <a:off x="9418320" y="6510528"/>
            <a:ext cx="2286000" cy="219456"/>
          </a:xfrm>
          <a:prstGeom prst="rect">
            <a:avLst/>
          </a:prstGeom>
          <a:noFill/>
        </p:spPr>
        <p:txBody>
          <a:bodyPr wrap="square" lIns="0" rIns="0" tIns="0" bIns="0" anchor="ctr"/>
          <a:lstStyle/>
          <a:p>
            <a:pPr algn="r">
              <a:spcBef>
                <a:spcPts val="0"/>
              </a:spcBef>
              <a:spcAft>
                <a:spcPts val="0"/>
              </a:spcAft>
            </a:pPr>
            <a:r>
              <a:rPr sz="1100" b="1">
                <a:solidFill>
                  <a:srgbClr val="5C6B7A"/>
                </a:solidFill>
                <a:latin typeface="Calibri"/>
                <a:ea typeface="Calibri"/>
                <a:cs typeface="Calibri"/>
              </a:rPr>
              <a:t>09  /  10</a:t>
            </a:r>
          </a:p>
        </p:txBody>
      </p:sp>
      <p:sp>
        <p:nvSpPr>
          <p:cNvPr id="8" name="TextBox 7"/>
          <p:cNvSpPr txBox="1"/>
          <p:nvPr/>
        </p:nvSpPr>
        <p:spPr>
          <a:xfrm>
            <a:off x="502920" y="1005840"/>
            <a:ext cx="10972800" cy="237744"/>
          </a:xfrm>
          <a:prstGeom prst="rect">
            <a:avLst/>
          </a:prstGeom>
          <a:noFill/>
        </p:spPr>
        <p:txBody>
          <a:bodyPr wrap="square" lIns="0" rIns="0" tIns="0" bIns="0" anchor="t"/>
          <a:lstStyle/>
          <a:p>
            <a:pPr algn="l">
              <a:spcBef>
                <a:spcPts val="0"/>
              </a:spcBef>
              <a:spcAft>
                <a:spcPts val="0"/>
              </a:spcAft>
            </a:pPr>
            <a:r>
              <a:rPr sz="1400" b="0">
                <a:solidFill>
                  <a:srgbClr val="5C6B7A"/>
                </a:solidFill>
                <a:latin typeface="Calibri"/>
                <a:ea typeface="Calibri"/>
                <a:cs typeface="Calibri"/>
              </a:rPr>
              <a:t>Mark each one caught or missed. Missed means it was still on the host at the end.</a:t>
            </a:r>
          </a:p>
        </p:txBody>
      </p:sp>
      <p:sp>
        <p:nvSpPr>
          <p:cNvPr id="9" name="Rectangle 8"/>
          <p:cNvSpPr/>
          <p:nvPr/>
        </p:nvSpPr>
        <p:spPr>
          <a:xfrm>
            <a:off x="502920" y="1335024"/>
            <a:ext cx="196596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35024"/>
            <a:ext cx="1819656"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ITEM</a:t>
            </a:r>
          </a:p>
        </p:txBody>
      </p:sp>
      <p:sp>
        <p:nvSpPr>
          <p:cNvPr id="11" name="Rectangle 10"/>
          <p:cNvSpPr/>
          <p:nvPr/>
        </p:nvSpPr>
        <p:spPr>
          <a:xfrm>
            <a:off x="2468880" y="1335024"/>
            <a:ext cx="324612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1335024"/>
            <a:ext cx="309981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STILL ON THE BOX</a:t>
            </a:r>
          </a:p>
        </p:txBody>
      </p:sp>
      <p:sp>
        <p:nvSpPr>
          <p:cNvPr id="13" name="Rectangle 12"/>
          <p:cNvSpPr/>
          <p:nvPr/>
        </p:nvSpPr>
        <p:spPr>
          <a:xfrm>
            <a:off x="5715000" y="1335024"/>
            <a:ext cx="4160520"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335024"/>
            <a:ext cx="4014215"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WHERE TO LOOK</a:t>
            </a:r>
          </a:p>
        </p:txBody>
      </p:sp>
      <p:sp>
        <p:nvSpPr>
          <p:cNvPr id="15" name="Rectangle 14"/>
          <p:cNvSpPr/>
          <p:nvPr/>
        </p:nvSpPr>
        <p:spPr>
          <a:xfrm>
            <a:off x="9875520" y="1335024"/>
            <a:ext cx="1810512" cy="329184"/>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0" y="1335024"/>
            <a:ext cx="1664208" cy="329184"/>
          </a:xfrm>
          <a:prstGeom prst="rect">
            <a:avLst/>
          </a:prstGeom>
          <a:noFill/>
        </p:spPr>
        <p:txBody>
          <a:bodyPr wrap="square" lIns="0" rIns="0" tIns="0" bIns="0" anchor="ctr"/>
          <a:lstStyle/>
          <a:p>
            <a:pPr algn="l">
              <a:spcBef>
                <a:spcPts val="0"/>
              </a:spcBef>
              <a:spcAft>
                <a:spcPts val="0"/>
              </a:spcAft>
            </a:pPr>
            <a:r>
              <a:rPr sz="1100" b="1">
                <a:solidFill>
                  <a:srgbClr val="FFFFFF"/>
                </a:solidFill>
                <a:latin typeface="Calibri"/>
                <a:ea typeface="Calibri"/>
                <a:cs typeface="Calibri"/>
              </a:rPr>
              <a:t>THIS CLASS</a:t>
            </a:r>
          </a:p>
        </p:txBody>
      </p:sp>
      <p:sp>
        <p:nvSpPr>
          <p:cNvPr id="17" name="Rectangle 16"/>
          <p:cNvSpPr/>
          <p:nvPr/>
        </p:nvSpPr>
        <p:spPr>
          <a:xfrm>
            <a:off x="502920" y="1664207"/>
            <a:ext cx="1118311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15798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664207"/>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Callback</a:t>
            </a:r>
          </a:p>
        </p:txBody>
      </p:sp>
      <p:sp>
        <p:nvSpPr>
          <p:cNvPr id="20" name="TextBox 19"/>
          <p:cNvSpPr txBox="1"/>
          <p:nvPr/>
        </p:nvSpPr>
        <p:spPr>
          <a:xfrm>
            <a:off x="2560320" y="1664207"/>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Process or channel still up</a:t>
            </a:r>
          </a:p>
        </p:txBody>
      </p:sp>
      <p:sp>
        <p:nvSpPr>
          <p:cNvPr id="21" name="TextBox 20"/>
          <p:cNvSpPr txBox="1"/>
          <p:nvPr/>
        </p:nvSpPr>
        <p:spPr>
          <a:xfrm>
            <a:off x="5806440" y="1664207"/>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ss, htop, the journal. Not only ps</a:t>
            </a:r>
          </a:p>
        </p:txBody>
      </p:sp>
      <p:sp>
        <p:nvSpPr>
          <p:cNvPr id="22" name="TextBox 21"/>
          <p:cNvSpPr txBox="1"/>
          <p:nvPr/>
        </p:nvSpPr>
        <p:spPr>
          <a:xfrm>
            <a:off x="9966960" y="1664207"/>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3" name="Rectangle 22"/>
          <p:cNvSpPr/>
          <p:nvPr/>
        </p:nvSpPr>
        <p:spPr>
          <a:xfrm>
            <a:off x="502920" y="2167128"/>
            <a:ext cx="11183112" cy="50292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66090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216712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Extra sudo user</a:t>
            </a:r>
          </a:p>
        </p:txBody>
      </p:sp>
      <p:sp>
        <p:nvSpPr>
          <p:cNvPr id="26" name="TextBox 25"/>
          <p:cNvSpPr txBox="1"/>
          <p:nvPr/>
        </p:nvSpPr>
        <p:spPr>
          <a:xfrm>
            <a:off x="2560320" y="216712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A service name that can log in</a:t>
            </a:r>
          </a:p>
        </p:txBody>
      </p:sp>
      <p:sp>
        <p:nvSpPr>
          <p:cNvPr id="27" name="TextBox 26"/>
          <p:cNvSpPr txBox="1"/>
          <p:nvPr/>
        </p:nvSpPr>
        <p:spPr>
          <a:xfrm>
            <a:off x="5806440" y="216712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passwd, group, shadow</a:t>
            </a:r>
          </a:p>
        </p:txBody>
      </p:sp>
      <p:sp>
        <p:nvSpPr>
          <p:cNvPr id="28" name="TextBox 27"/>
          <p:cNvSpPr txBox="1"/>
          <p:nvPr/>
        </p:nvSpPr>
        <p:spPr>
          <a:xfrm>
            <a:off x="9966960" y="216712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29" name="Rectangle 28"/>
          <p:cNvSpPr/>
          <p:nvPr/>
        </p:nvSpPr>
        <p:spPr>
          <a:xfrm>
            <a:off x="502920" y="2670048"/>
            <a:ext cx="1118311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316382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67004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Shell swap</a:t>
            </a:r>
          </a:p>
        </p:txBody>
      </p:sp>
      <p:sp>
        <p:nvSpPr>
          <p:cNvPr id="32" name="TextBox 31"/>
          <p:cNvSpPr txBox="1"/>
          <p:nvPr/>
        </p:nvSpPr>
        <p:spPr>
          <a:xfrm>
            <a:off x="2560320" y="267004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defender starts in an editor</a:t>
            </a:r>
          </a:p>
        </p:txBody>
      </p:sp>
      <p:sp>
        <p:nvSpPr>
          <p:cNvPr id="33" name="TextBox 32"/>
          <p:cNvSpPr txBox="1"/>
          <p:nvPr/>
        </p:nvSpPr>
        <p:spPr>
          <a:xfrm>
            <a:off x="5806440" y="267004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getent passwd defender</a:t>
            </a:r>
          </a:p>
        </p:txBody>
      </p:sp>
      <p:sp>
        <p:nvSpPr>
          <p:cNvPr id="34" name="TextBox 33"/>
          <p:cNvSpPr txBox="1"/>
          <p:nvPr/>
        </p:nvSpPr>
        <p:spPr>
          <a:xfrm>
            <a:off x="9966960" y="267004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35" name="Rectangle 34"/>
          <p:cNvSpPr/>
          <p:nvPr/>
        </p:nvSpPr>
        <p:spPr>
          <a:xfrm>
            <a:off x="502920" y="3172968"/>
            <a:ext cx="11183112" cy="50292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366674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17296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nologin is bash</a:t>
            </a:r>
          </a:p>
        </p:txBody>
      </p:sp>
      <p:sp>
        <p:nvSpPr>
          <p:cNvPr id="38" name="TextBox 37"/>
          <p:cNvSpPr txBox="1"/>
          <p:nvPr/>
        </p:nvSpPr>
        <p:spPr>
          <a:xfrm>
            <a:off x="2560320" y="317296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Hash does not match a clean host</a:t>
            </a:r>
          </a:p>
        </p:txBody>
      </p:sp>
      <p:sp>
        <p:nvSpPr>
          <p:cNvPr id="39" name="TextBox 38"/>
          <p:cNvSpPr txBox="1"/>
          <p:nvPr/>
        </p:nvSpPr>
        <p:spPr>
          <a:xfrm>
            <a:off x="5806440" y="317296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md5sum the real binary</a:t>
            </a:r>
          </a:p>
        </p:txBody>
      </p:sp>
      <p:sp>
        <p:nvSpPr>
          <p:cNvPr id="40" name="TextBox 39"/>
          <p:cNvSpPr txBox="1"/>
          <p:nvPr/>
        </p:nvSpPr>
        <p:spPr>
          <a:xfrm>
            <a:off x="9966960" y="317296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1" name="Rectangle 40"/>
          <p:cNvSpPr/>
          <p:nvPr/>
        </p:nvSpPr>
        <p:spPr>
          <a:xfrm>
            <a:off x="502920" y="3675887"/>
            <a:ext cx="1118311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4169663"/>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675887"/>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Wrapped tools</a:t>
            </a:r>
          </a:p>
        </p:txBody>
      </p:sp>
      <p:sp>
        <p:nvSpPr>
          <p:cNvPr id="44" name="TextBox 43"/>
          <p:cNvSpPr txBox="1"/>
          <p:nvPr/>
        </p:nvSpPr>
        <p:spPr>
          <a:xfrm>
            <a:off x="2560320" y="3675887"/>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ps, ss, netstat, w, who lie</a:t>
            </a:r>
          </a:p>
        </p:txBody>
      </p:sp>
      <p:sp>
        <p:nvSpPr>
          <p:cNvPr id="45" name="TextBox 44"/>
          <p:cNvSpPr txBox="1"/>
          <p:nvPr/>
        </p:nvSpPr>
        <p:spPr>
          <a:xfrm>
            <a:off x="5806440" y="3675887"/>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file, type, or a known hash</a:t>
            </a:r>
          </a:p>
        </p:txBody>
      </p:sp>
      <p:sp>
        <p:nvSpPr>
          <p:cNvPr id="46" name="TextBox 45"/>
          <p:cNvSpPr txBox="1"/>
          <p:nvPr/>
        </p:nvSpPr>
        <p:spPr>
          <a:xfrm>
            <a:off x="9966960" y="3675887"/>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47" name="Rectangle 46"/>
          <p:cNvSpPr/>
          <p:nvPr/>
        </p:nvSpPr>
        <p:spPr>
          <a:xfrm>
            <a:off x="502920" y="4178808"/>
            <a:ext cx="11183112" cy="50292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 y="467258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17880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Locked page</a:t>
            </a:r>
          </a:p>
        </p:txBody>
      </p:sp>
      <p:sp>
        <p:nvSpPr>
          <p:cNvPr id="50" name="TextBox 49"/>
          <p:cNvSpPr txBox="1"/>
          <p:nvPr/>
        </p:nvSpPr>
        <p:spPr>
          <a:xfrm>
            <a:off x="2560320" y="417880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The editor will not save</a:t>
            </a:r>
          </a:p>
        </p:txBody>
      </p:sp>
      <p:sp>
        <p:nvSpPr>
          <p:cNvPr id="51" name="TextBox 50"/>
          <p:cNvSpPr txBox="1"/>
          <p:nvPr/>
        </p:nvSpPr>
        <p:spPr>
          <a:xfrm>
            <a:off x="5806440" y="417880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lsattr, or icacls</a:t>
            </a:r>
          </a:p>
        </p:txBody>
      </p:sp>
      <p:sp>
        <p:nvSpPr>
          <p:cNvPr id="52" name="TextBox 51"/>
          <p:cNvSpPr txBox="1"/>
          <p:nvPr/>
        </p:nvSpPr>
        <p:spPr>
          <a:xfrm>
            <a:off x="9966960" y="417880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3" name="Rectangle 52"/>
          <p:cNvSpPr/>
          <p:nvPr/>
        </p:nvSpPr>
        <p:spPr>
          <a:xfrm>
            <a:off x="502920" y="4681728"/>
            <a:ext cx="1118311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02920" y="517550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468172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Empty logs</a:t>
            </a:r>
          </a:p>
        </p:txBody>
      </p:sp>
      <p:sp>
        <p:nvSpPr>
          <p:cNvPr id="56" name="TextBox 55"/>
          <p:cNvSpPr txBox="1"/>
          <p:nvPr/>
        </p:nvSpPr>
        <p:spPr>
          <a:xfrm>
            <a:off x="2560320" y="468172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The file is there and has nothing</a:t>
            </a:r>
          </a:p>
        </p:txBody>
      </p:sp>
      <p:sp>
        <p:nvSpPr>
          <p:cNvPr id="57" name="TextBox 56"/>
          <p:cNvSpPr txBox="1"/>
          <p:nvPr/>
        </p:nvSpPr>
        <p:spPr>
          <a:xfrm>
            <a:off x="5806440" y="468172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The absence is the indicator</a:t>
            </a:r>
          </a:p>
        </p:txBody>
      </p:sp>
      <p:sp>
        <p:nvSpPr>
          <p:cNvPr id="58" name="TextBox 57"/>
          <p:cNvSpPr txBox="1"/>
          <p:nvPr/>
        </p:nvSpPr>
        <p:spPr>
          <a:xfrm>
            <a:off x="9966960" y="468172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59" name="Rectangle 58"/>
          <p:cNvSpPr/>
          <p:nvPr/>
        </p:nvSpPr>
        <p:spPr>
          <a:xfrm>
            <a:off x="502920" y="5184648"/>
            <a:ext cx="11183112" cy="502920"/>
          </a:xfrm>
          <a:prstGeom prst="rect">
            <a:avLst/>
          </a:prstGeom>
          <a:solidFill>
            <a:srgbClr val="E7EE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2920" y="567842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518464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Persistence</a:t>
            </a:r>
          </a:p>
        </p:txBody>
      </p:sp>
      <p:sp>
        <p:nvSpPr>
          <p:cNvPr id="62" name="TextBox 61"/>
          <p:cNvSpPr txBox="1"/>
          <p:nvPr/>
        </p:nvSpPr>
        <p:spPr>
          <a:xfrm>
            <a:off x="2560320" y="518464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mailq-local, or a reboot cron</a:t>
            </a:r>
          </a:p>
        </p:txBody>
      </p:sp>
      <p:sp>
        <p:nvSpPr>
          <p:cNvPr id="63" name="TextBox 62"/>
          <p:cNvSpPr txBox="1"/>
          <p:nvPr/>
        </p:nvSpPr>
        <p:spPr>
          <a:xfrm>
            <a:off x="5806440" y="518464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systemctl and crontab</a:t>
            </a:r>
          </a:p>
        </p:txBody>
      </p:sp>
      <p:sp>
        <p:nvSpPr>
          <p:cNvPr id="64" name="TextBox 63"/>
          <p:cNvSpPr txBox="1"/>
          <p:nvPr/>
        </p:nvSpPr>
        <p:spPr>
          <a:xfrm>
            <a:off x="9966960" y="518464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
        <p:nvSpPr>
          <p:cNvPr id="65" name="Rectangle 64"/>
          <p:cNvSpPr/>
          <p:nvPr/>
        </p:nvSpPr>
        <p:spPr>
          <a:xfrm>
            <a:off x="502920" y="5687568"/>
            <a:ext cx="11183112"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02920" y="6181344"/>
            <a:ext cx="11183112" cy="9144"/>
          </a:xfrm>
          <a:prstGeom prst="rect">
            <a:avLst/>
          </a:prstGeom>
          <a:solidFill>
            <a:srgbClr val="D5DE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94360" y="5687568"/>
            <a:ext cx="1819656" cy="502920"/>
          </a:xfrm>
          <a:prstGeom prst="rect">
            <a:avLst/>
          </a:prstGeom>
          <a:noFill/>
        </p:spPr>
        <p:txBody>
          <a:bodyPr wrap="square" lIns="0" rIns="0" tIns="0" bIns="0" anchor="ctr"/>
          <a:lstStyle/>
          <a:p>
            <a:pPr algn="l">
              <a:spcBef>
                <a:spcPts val="0"/>
              </a:spcBef>
              <a:spcAft>
                <a:spcPts val="0"/>
              </a:spcAft>
            </a:pPr>
            <a:r>
              <a:rPr sz="1200" b="1">
                <a:solidFill>
                  <a:srgbClr val="14202B"/>
                </a:solidFill>
                <a:latin typeface="Calibri"/>
                <a:ea typeface="Calibri"/>
                <a:cs typeface="Calibri"/>
              </a:rPr>
              <a:t>Timestamps</a:t>
            </a:r>
          </a:p>
        </p:txBody>
      </p:sp>
      <p:sp>
        <p:nvSpPr>
          <p:cNvPr id="68" name="TextBox 67"/>
          <p:cNvSpPr txBox="1"/>
          <p:nvPr/>
        </p:nvSpPr>
        <p:spPr>
          <a:xfrm>
            <a:off x="2560320" y="5687568"/>
            <a:ext cx="30998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Times match a system file</a:t>
            </a:r>
          </a:p>
        </p:txBody>
      </p:sp>
      <p:sp>
        <p:nvSpPr>
          <p:cNvPr id="69" name="TextBox 68"/>
          <p:cNvSpPr txBox="1"/>
          <p:nvPr/>
        </p:nvSpPr>
        <p:spPr>
          <a:xfrm>
            <a:off x="5806440" y="5687568"/>
            <a:ext cx="4014215" cy="502920"/>
          </a:xfrm>
          <a:prstGeom prst="rect">
            <a:avLst/>
          </a:prstGeom>
          <a:noFill/>
        </p:spPr>
        <p:txBody>
          <a:bodyPr wrap="square" lIns="0" rIns="0" tIns="0" bIns="0" anchor="ctr"/>
          <a:lstStyle/>
          <a:p>
            <a:pPr algn="l">
              <a:spcBef>
                <a:spcPts val="0"/>
              </a:spcBef>
              <a:spcAft>
                <a:spcPts val="0"/>
              </a:spcAft>
            </a:pPr>
            <a:r>
              <a:rPr sz="1200" b="0">
                <a:solidFill>
                  <a:srgbClr val="14202B"/>
                </a:solidFill>
                <a:latin typeface="Calibri"/>
                <a:ea typeface="Calibri"/>
                <a:cs typeface="Calibri"/>
              </a:rPr>
              <a:t>Compare, do not trust the clock</a:t>
            </a:r>
          </a:p>
        </p:txBody>
      </p:sp>
      <p:sp>
        <p:nvSpPr>
          <p:cNvPr id="70" name="TextBox 69"/>
          <p:cNvSpPr txBox="1"/>
          <p:nvPr/>
        </p:nvSpPr>
        <p:spPr>
          <a:xfrm>
            <a:off x="9966960" y="5687568"/>
            <a:ext cx="1664208" cy="502920"/>
          </a:xfrm>
          <a:prstGeom prst="rect">
            <a:avLst/>
          </a:prstGeom>
          <a:noFill/>
        </p:spPr>
        <p:txBody>
          <a:bodyPr wrap="square" lIns="0" rIns="0" tIns="0" bIns="0" anchor="ctr"/>
          <a:lstStyle/>
          <a:p>
            <a:pPr algn="l">
              <a:spcBef>
                <a:spcPts val="0"/>
              </a:spcBef>
              <a:spcAft>
                <a:spcPts val="0"/>
              </a:spcAft>
            </a:pPr>
            <a:r>
              <a:rPr sz="1200" b="0">
                <a:solidFill>
                  <a:srgbClr val="5C6B7A"/>
                </a:solidFill>
                <a:latin typeface="Calibri"/>
                <a:ea typeface="Calibri"/>
                <a:cs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9144000" cy="237744"/>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LEAVE THEM WITH THIS</a:t>
            </a:r>
          </a:p>
        </p:txBody>
      </p:sp>
      <p:sp>
        <p:nvSpPr>
          <p:cNvPr id="5" name="TextBox 4"/>
          <p:cNvSpPr txBox="1"/>
          <p:nvPr/>
        </p:nvSpPr>
        <p:spPr>
          <a:xfrm>
            <a:off x="640080" y="777240"/>
            <a:ext cx="10972800" cy="548640"/>
          </a:xfrm>
          <a:prstGeom prst="rect">
            <a:avLst/>
          </a:prstGeom>
          <a:noFill/>
        </p:spPr>
        <p:txBody>
          <a:bodyPr wrap="square" lIns="0" rIns="0" tIns="0" bIns="0" anchor="t"/>
          <a:lstStyle/>
          <a:p>
            <a:pPr algn="l">
              <a:spcBef>
                <a:spcPts val="0"/>
              </a:spcBef>
              <a:spcAft>
                <a:spcPts val="0"/>
              </a:spcAft>
            </a:pPr>
            <a:r>
              <a:rPr sz="3200" b="1">
                <a:solidFill>
                  <a:srgbClr val="FFFFFF"/>
                </a:solidFill>
                <a:latin typeface="Calibri"/>
                <a:ea typeface="Calibri"/>
                <a:cs typeface="Calibri"/>
              </a:rPr>
              <a:t>The score is what I still had.</a:t>
            </a:r>
          </a:p>
        </p:txBody>
      </p:sp>
      <p:sp>
        <p:nvSpPr>
          <p:cNvPr id="6" name="TextBox 5"/>
          <p:cNvSpPr txBox="1"/>
          <p:nvPr/>
        </p:nvSpPr>
        <p:spPr>
          <a:xfrm>
            <a:off x="640080" y="1417320"/>
            <a:ext cx="10058400" cy="320040"/>
          </a:xfrm>
          <a:prstGeom prst="rect">
            <a:avLst/>
          </a:prstGeom>
          <a:noFill/>
        </p:spPr>
        <p:txBody>
          <a:bodyPr wrap="square" lIns="0" rIns="0" tIns="0" bIns="0" anchor="t"/>
          <a:lstStyle/>
          <a:p>
            <a:pPr algn="l">
              <a:spcBef>
                <a:spcPts val="0"/>
              </a:spcBef>
              <a:spcAft>
                <a:spcPts val="0"/>
              </a:spcAft>
            </a:pPr>
            <a:r>
              <a:rPr sz="1600" b="0">
                <a:solidFill>
                  <a:srgbClr val="C5D0D8"/>
                </a:solidFill>
                <a:latin typeface="Calibri"/>
                <a:ea typeface="Calibri"/>
                <a:cs typeface="Calibri"/>
              </a:rPr>
              <a:t>Not the tools that were opened. The access that was left.</a:t>
            </a:r>
          </a:p>
        </p:txBody>
      </p:sp>
      <p:sp>
        <p:nvSpPr>
          <p:cNvPr id="7" name="Rectangle 6"/>
          <p:cNvSpPr/>
          <p:nvPr/>
        </p:nvSpPr>
        <p:spPr>
          <a:xfrm>
            <a:off x="640080" y="2103120"/>
            <a:ext cx="2651760" cy="1691640"/>
          </a:xfrm>
          <a:prstGeom prst="rect">
            <a:avLst/>
          </a:prstGeom>
          <a:solidFill>
            <a:srgbClr val="14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240280"/>
            <a:ext cx="2331720"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CALLBACKS
STILL ALIVE</a:t>
            </a:r>
          </a:p>
        </p:txBody>
      </p:sp>
      <p:sp>
        <p:nvSpPr>
          <p:cNvPr id="9" name="TextBox 8"/>
          <p:cNvSpPr txBox="1"/>
          <p:nvPr/>
        </p:nvSpPr>
        <p:spPr>
          <a:xfrm>
            <a:off x="804671" y="2926080"/>
            <a:ext cx="2331720" cy="59436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ea typeface="Calibri"/>
                <a:cs typeface="Calibri"/>
              </a:rPr>
              <a:t>X of X</a:t>
            </a:r>
          </a:p>
        </p:txBody>
      </p:sp>
      <p:sp>
        <p:nvSpPr>
          <p:cNvPr id="10" name="Rectangle 9"/>
          <p:cNvSpPr/>
          <p:nvPr/>
        </p:nvSpPr>
        <p:spPr>
          <a:xfrm>
            <a:off x="3474720" y="2103120"/>
            <a:ext cx="2651760" cy="1691640"/>
          </a:xfrm>
          <a:prstGeom prst="rect">
            <a:avLst/>
          </a:prstGeom>
          <a:solidFill>
            <a:srgbClr val="14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240280"/>
            <a:ext cx="2331720"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USERS STILL
UNNAMED</a:t>
            </a:r>
          </a:p>
        </p:txBody>
      </p:sp>
      <p:sp>
        <p:nvSpPr>
          <p:cNvPr id="12" name="TextBox 11"/>
          <p:cNvSpPr txBox="1"/>
          <p:nvPr/>
        </p:nvSpPr>
        <p:spPr>
          <a:xfrm>
            <a:off x="3639312" y="2926080"/>
            <a:ext cx="2331720" cy="59436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ea typeface="Calibri"/>
                <a:cs typeface="Calibri"/>
              </a:rPr>
              <a:t>X of X</a:t>
            </a:r>
          </a:p>
        </p:txBody>
      </p:sp>
      <p:sp>
        <p:nvSpPr>
          <p:cNvPr id="13" name="Rectangle 12"/>
          <p:cNvSpPr/>
          <p:nvPr/>
        </p:nvSpPr>
        <p:spPr>
          <a:xfrm>
            <a:off x="6309360" y="2103120"/>
            <a:ext cx="2651760" cy="1691640"/>
          </a:xfrm>
          <a:prstGeom prst="rect">
            <a:avLst/>
          </a:prstGeom>
          <a:solidFill>
            <a:srgbClr val="14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240280"/>
            <a:ext cx="2331720"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CONNECTIONS
STILL ALIVE</a:t>
            </a:r>
          </a:p>
        </p:txBody>
      </p:sp>
      <p:sp>
        <p:nvSpPr>
          <p:cNvPr id="15" name="TextBox 14"/>
          <p:cNvSpPr txBox="1"/>
          <p:nvPr/>
        </p:nvSpPr>
        <p:spPr>
          <a:xfrm>
            <a:off x="6473952" y="2926080"/>
            <a:ext cx="2331720" cy="59436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ea typeface="Calibri"/>
                <a:cs typeface="Calibri"/>
              </a:rPr>
              <a:t>X of X</a:t>
            </a:r>
          </a:p>
        </p:txBody>
      </p:sp>
      <p:sp>
        <p:nvSpPr>
          <p:cNvPr id="16" name="Rectangle 15"/>
          <p:cNvSpPr/>
          <p:nvPr/>
        </p:nvSpPr>
        <p:spPr>
          <a:xfrm>
            <a:off x="9144000" y="2103120"/>
            <a:ext cx="2651760" cy="1691640"/>
          </a:xfrm>
          <a:prstGeom prst="rect">
            <a:avLst/>
          </a:prstGeom>
          <a:solidFill>
            <a:srgbClr val="14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8592" y="2240280"/>
            <a:ext cx="2331720" cy="640080"/>
          </a:xfrm>
          <a:prstGeom prst="rect">
            <a:avLst/>
          </a:prstGeom>
          <a:noFill/>
        </p:spPr>
        <p:txBody>
          <a:bodyPr wrap="square" lIns="0" rIns="0" tIns="0" bIns="0" anchor="t"/>
          <a:lstStyle/>
          <a:p>
            <a:pPr algn="l">
              <a:spcBef>
                <a:spcPts val="0"/>
              </a:spcBef>
              <a:spcAft>
                <a:spcPts val="0"/>
              </a:spcAft>
            </a:pPr>
            <a:r>
              <a:rPr sz="1200" b="1">
                <a:solidFill>
                  <a:srgbClr val="0F766E"/>
                </a:solidFill>
                <a:latin typeface="Calibri"/>
                <a:ea typeface="Calibri"/>
                <a:cs typeface="Calibri"/>
              </a:rPr>
              <a:t>DEVICES STILL
PRIVILEGED</a:t>
            </a:r>
          </a:p>
        </p:txBody>
      </p:sp>
      <p:sp>
        <p:nvSpPr>
          <p:cNvPr id="18" name="TextBox 17"/>
          <p:cNvSpPr txBox="1"/>
          <p:nvPr/>
        </p:nvSpPr>
        <p:spPr>
          <a:xfrm>
            <a:off x="9308592" y="2926080"/>
            <a:ext cx="2331720" cy="594360"/>
          </a:xfrm>
          <a:prstGeom prst="rect">
            <a:avLst/>
          </a:prstGeom>
          <a:noFill/>
        </p:spPr>
        <p:txBody>
          <a:bodyPr wrap="square" lIns="0" rIns="0" tIns="0" bIns="0" anchor="t"/>
          <a:lstStyle/>
          <a:p>
            <a:pPr algn="l">
              <a:spcBef>
                <a:spcPts val="0"/>
              </a:spcBef>
              <a:spcAft>
                <a:spcPts val="0"/>
              </a:spcAft>
            </a:pPr>
            <a:r>
              <a:rPr sz="2800" b="1">
                <a:solidFill>
                  <a:srgbClr val="FFFFFF"/>
                </a:solidFill>
                <a:latin typeface="Calibri"/>
                <a:ea typeface="Calibri"/>
                <a:cs typeface="Calibri"/>
              </a:rPr>
              <a:t>X of X</a:t>
            </a:r>
          </a:p>
        </p:txBody>
      </p:sp>
      <p:sp>
        <p:nvSpPr>
          <p:cNvPr id="19" name="TextBox 18"/>
          <p:cNvSpPr txBox="1"/>
          <p:nvPr/>
        </p:nvSpPr>
        <p:spPr>
          <a:xfrm>
            <a:off x="640080" y="4160520"/>
            <a:ext cx="10058400" cy="365760"/>
          </a:xfrm>
          <a:prstGeom prst="rect">
            <a:avLst/>
          </a:prstGeom>
          <a:noFill/>
        </p:spPr>
        <p:txBody>
          <a:bodyPr wrap="square" lIns="0" rIns="0" tIns="0" bIns="0" anchor="t"/>
          <a:lstStyle/>
          <a:p>
            <a:pPr algn="l">
              <a:spcBef>
                <a:spcPts val="0"/>
              </a:spcBef>
              <a:spcAft>
                <a:spcPts val="0"/>
              </a:spcAft>
            </a:pPr>
            <a:r>
              <a:rPr sz="2200" b="1">
                <a:solidFill>
                  <a:srgbClr val="FFFFFF"/>
                </a:solidFill>
                <a:latin typeface="Calibri"/>
                <a:ea typeface="Calibri"/>
                <a:cs typeface="Calibri"/>
              </a:rPr>
              <a:t>Walk one miss.</a:t>
            </a:r>
          </a:p>
        </p:txBody>
      </p:sp>
      <p:sp>
        <p:nvSpPr>
          <p:cNvPr id="20" name="TextBox 19"/>
          <p:cNvSpPr txBox="1"/>
          <p:nvPr/>
        </p:nvSpPr>
        <p:spPr>
          <a:xfrm>
            <a:off x="640080" y="4617720"/>
            <a:ext cx="10058400" cy="320040"/>
          </a:xfrm>
          <a:prstGeom prst="rect">
            <a:avLst/>
          </a:prstGeom>
          <a:noFill/>
        </p:spPr>
        <p:txBody>
          <a:bodyPr wrap="square" lIns="0" rIns="0" tIns="0" bIns="0" anchor="t"/>
          <a:lstStyle/>
          <a:p>
            <a:pPr algn="l">
              <a:spcBef>
                <a:spcPts val="0"/>
              </a:spcBef>
              <a:spcAft>
                <a:spcPts val="0"/>
              </a:spcAft>
            </a:pPr>
            <a:r>
              <a:rPr sz="1600" b="0">
                <a:solidFill>
                  <a:srgbClr val="C5D0D8"/>
                </a:solidFill>
                <a:latin typeface="Calibri"/>
                <a:ea typeface="Calibri"/>
                <a:cs typeface="Calibri"/>
              </a:rPr>
              <a:t>Show the host. Show the IP. Show the one command that would have found it.</a:t>
            </a:r>
          </a:p>
        </p:txBody>
      </p:sp>
      <p:sp>
        <p:nvSpPr>
          <p:cNvPr id="21" name="TextBox 20"/>
          <p:cNvSpPr txBox="1"/>
          <p:nvPr/>
        </p:nvSpPr>
        <p:spPr>
          <a:xfrm>
            <a:off x="640080" y="5623560"/>
            <a:ext cx="5486400" cy="365760"/>
          </a:xfrm>
          <a:prstGeom prst="rect">
            <a:avLst/>
          </a:prstGeom>
          <a:noFill/>
        </p:spPr>
        <p:txBody>
          <a:bodyPr wrap="square" lIns="0" rIns="0" tIns="0" bIns="0" anchor="t"/>
          <a:lstStyle/>
          <a:p>
            <a:pPr algn="l">
              <a:spcBef>
                <a:spcPts val="0"/>
              </a:spcBef>
              <a:spcAft>
                <a:spcPts val="0"/>
              </a:spcAft>
            </a:pPr>
            <a:r>
              <a:rPr sz="2000" b="1">
                <a:solidFill>
                  <a:srgbClr val="0F766E"/>
                </a:solidFill>
                <a:latin typeface="Calibri"/>
                <a:ea typeface="Calibri"/>
                <a:cs typeface="Calibri"/>
              </a:rPr>
              <a:t>Questions</a:t>
            </a:r>
          </a:p>
        </p:txBody>
      </p:sp>
      <p:sp>
        <p:nvSpPr>
          <p:cNvPr id="22" name="TextBox 21"/>
          <p:cNvSpPr txBox="1"/>
          <p:nvPr/>
        </p:nvSpPr>
        <p:spPr>
          <a:xfrm>
            <a:off x="9509760" y="6263640"/>
            <a:ext cx="2103120" cy="256032"/>
          </a:xfrm>
          <a:prstGeom prst="rect">
            <a:avLst/>
          </a:prstGeom>
          <a:noFill/>
        </p:spPr>
        <p:txBody>
          <a:bodyPr wrap="square" lIns="0" rIns="0" tIns="0" bIns="0" anchor="t"/>
          <a:lstStyle/>
          <a:p>
            <a:pPr algn="r">
              <a:spcBef>
                <a:spcPts val="0"/>
              </a:spcBef>
              <a:spcAft>
                <a:spcPts val="0"/>
              </a:spcAft>
            </a:pPr>
            <a:r>
              <a:rPr sz="1200" b="1">
                <a:solidFill>
                  <a:srgbClr val="8FA3B3"/>
                </a:solidFill>
                <a:latin typeface="Calibri"/>
                <a:ea typeface="Calibri"/>
                <a:cs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Defensive Cyberspace Operations - Attacker Debrief</dc:title>
  <dc:subject>End-of-class red team brief</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Lab debrief</cp:category>
</cp:coreProperties>
</file>